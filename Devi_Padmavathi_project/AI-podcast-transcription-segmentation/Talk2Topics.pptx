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5"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A5DA"/>
    <a:srgbClr val="061A71"/>
    <a:srgbClr val="00FFFF"/>
    <a:srgbClr val="061E70"/>
    <a:srgbClr val="062274"/>
    <a:srgbClr val="061E6E"/>
    <a:srgbClr val="061663"/>
    <a:srgbClr val="1D86C7"/>
    <a:srgbClr val="8FD2FC"/>
    <a:srgbClr val="88B5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43FBB9-3A5A-4AB0-97C1-FB64BD6593B4}" v="1" dt="2026-02-23T09:26:51.9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636AD-C189-3E4A-2596-AC6BBC924B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CAEFD55-ED9E-1FF8-9F4C-68184FFD66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5C7EA4B-E5F9-D359-69BA-C14521BA51C6}"/>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5" name="Footer Placeholder 4">
            <a:extLst>
              <a:ext uri="{FF2B5EF4-FFF2-40B4-BE49-F238E27FC236}">
                <a16:creationId xmlns:a16="http://schemas.microsoft.com/office/drawing/2014/main" id="{CFD4DE24-EE3D-24EC-EBB9-27D31F511D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1A79227-BD5B-AD86-3153-EC17DB980BF0}"/>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2557913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0C61A-2AFB-2FF3-3CCA-02CE888EEB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D171B1-EF1B-818C-8225-A5CA13194B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3A7872-15B8-87B9-ADEE-F5CF5C0F30DA}"/>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5" name="Footer Placeholder 4">
            <a:extLst>
              <a:ext uri="{FF2B5EF4-FFF2-40B4-BE49-F238E27FC236}">
                <a16:creationId xmlns:a16="http://schemas.microsoft.com/office/drawing/2014/main" id="{1CA78D12-2D73-40CF-AA93-D8870D03B2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2A963-EC68-4F89-6FD0-9D3647EAFEA0}"/>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4144074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1F8B2-5DF9-644F-ECBD-7153E68942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753C1C-D1C4-13A9-5E75-3B0EDCCA16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338D3A-2D80-48ED-EB43-B611968CB63D}"/>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5" name="Footer Placeholder 4">
            <a:extLst>
              <a:ext uri="{FF2B5EF4-FFF2-40B4-BE49-F238E27FC236}">
                <a16:creationId xmlns:a16="http://schemas.microsoft.com/office/drawing/2014/main" id="{BC17D304-BF60-285A-34E8-94337CD13A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13A369-4705-018D-4E12-57CB96CBF01C}"/>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155104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6FD91-BE31-98FA-0E45-D2F8546DBC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94369C-3499-61B4-85F2-878922623E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4A00AD9-50A9-53F2-E450-1EBF31E1F2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B028CF-4198-8B13-8B06-2690B0D9BCCF}"/>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6" name="Footer Placeholder 5">
            <a:extLst>
              <a:ext uri="{FF2B5EF4-FFF2-40B4-BE49-F238E27FC236}">
                <a16:creationId xmlns:a16="http://schemas.microsoft.com/office/drawing/2014/main" id="{EC9AC067-B3CF-3192-131E-6BC83AEC69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255A9D-976A-98C8-E15C-0F6B6FA74CDA}"/>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38761030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F96DD-725E-6BFB-D9CD-6D053E5143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C818EF5-43E4-DDD5-16B4-42F04B2EB7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2A412F-84B9-1498-59B9-47C156F6FB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DA27D8-BE37-5D6A-D6A8-B059F113CB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A094F2-BE1C-1ABD-8577-747B694E05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684564-82EB-8593-66C1-8683C9891BB4}"/>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8" name="Footer Placeholder 7">
            <a:extLst>
              <a:ext uri="{FF2B5EF4-FFF2-40B4-BE49-F238E27FC236}">
                <a16:creationId xmlns:a16="http://schemas.microsoft.com/office/drawing/2014/main" id="{22B5858E-7FD8-0AF1-04AC-85A2831AA4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8AA438-60A3-79AA-DE5C-C3BAFD7B85F0}"/>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3827932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5D934-D9DB-5670-796B-364EB695D8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03842FB-D9D0-5D2B-8C88-2D76DAD9E25D}"/>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4" name="Footer Placeholder 3">
            <a:extLst>
              <a:ext uri="{FF2B5EF4-FFF2-40B4-BE49-F238E27FC236}">
                <a16:creationId xmlns:a16="http://schemas.microsoft.com/office/drawing/2014/main" id="{7853E745-CBB1-A74F-246C-15E5306C88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637A92A-EA22-4DC7-5E97-77BC08FEF040}"/>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3580502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6A9023-195D-AF69-326E-7C26143D4153}"/>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3" name="Footer Placeholder 2">
            <a:extLst>
              <a:ext uri="{FF2B5EF4-FFF2-40B4-BE49-F238E27FC236}">
                <a16:creationId xmlns:a16="http://schemas.microsoft.com/office/drawing/2014/main" id="{CFD999B1-9D23-A0C4-878B-35FBCDD9C00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F439458-320D-D41E-79E5-62ACA8C86805}"/>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4106258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0D560-3E6F-96CC-64E9-23386847F3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E1F4A15-5FF8-1E82-4D98-CFC2BD7139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CB0BA56-CBCE-246E-EEE2-F412220DFA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2D30-394F-E8E6-1BC9-38DCFFFA54B4}"/>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6" name="Footer Placeholder 5">
            <a:extLst>
              <a:ext uri="{FF2B5EF4-FFF2-40B4-BE49-F238E27FC236}">
                <a16:creationId xmlns:a16="http://schemas.microsoft.com/office/drawing/2014/main" id="{4A0A68A7-0FBC-EB88-B133-34163A1C44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F73F3D-0D4A-460F-FD4B-D1DF92381F55}"/>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1608564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461C4-26D3-5920-568B-41EF399C0B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00E6FBB-D6A5-3C35-21B6-A740EC92345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BAD689-D143-AB3C-5C7B-436F9BDD3A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73AE1-048F-E345-4ACE-D0A32F1B1704}"/>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6" name="Footer Placeholder 5">
            <a:extLst>
              <a:ext uri="{FF2B5EF4-FFF2-40B4-BE49-F238E27FC236}">
                <a16:creationId xmlns:a16="http://schemas.microsoft.com/office/drawing/2014/main" id="{52C298A6-C70D-B130-7D99-F0BDE6A17A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647127-B721-16F3-D0E7-128DFDD076AE}"/>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920384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F2DEA-306C-FFF3-8158-0C1A0CDCCAC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F474F3-E756-51B8-3D1F-6DEF0D4558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0F2A95-3D65-DD48-02FF-F29AF614E304}"/>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5" name="Footer Placeholder 4">
            <a:extLst>
              <a:ext uri="{FF2B5EF4-FFF2-40B4-BE49-F238E27FC236}">
                <a16:creationId xmlns:a16="http://schemas.microsoft.com/office/drawing/2014/main" id="{98400B57-F4F3-D555-E994-A12F7393AE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793302-7534-FE85-D24C-D03790979207}"/>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17321027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77B508-1F77-903C-1823-50D2BB5227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A15FD2-182C-79A4-919B-30019FDCED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D51010-5073-6EF4-6C82-3A87182B9771}"/>
              </a:ext>
            </a:extLst>
          </p:cNvPr>
          <p:cNvSpPr>
            <a:spLocks noGrp="1"/>
          </p:cNvSpPr>
          <p:nvPr>
            <p:ph type="dt" sz="half" idx="10"/>
          </p:nvPr>
        </p:nvSpPr>
        <p:spPr/>
        <p:txBody>
          <a:bodyPr/>
          <a:lstStyle/>
          <a:p>
            <a:fld id="{9133A9D6-D413-4CA8-B662-18DF67EE1849}" type="datetimeFigureOut">
              <a:rPr lang="en-IN" smtClean="0"/>
              <a:t>23-02-2026</a:t>
            </a:fld>
            <a:endParaRPr lang="en-IN"/>
          </a:p>
        </p:txBody>
      </p:sp>
      <p:sp>
        <p:nvSpPr>
          <p:cNvPr id="5" name="Footer Placeholder 4">
            <a:extLst>
              <a:ext uri="{FF2B5EF4-FFF2-40B4-BE49-F238E27FC236}">
                <a16:creationId xmlns:a16="http://schemas.microsoft.com/office/drawing/2014/main" id="{03D15C7D-26EA-FE19-B299-3270E981B6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7F3800-E28D-9C04-96EC-61FF63CFFA9A}"/>
              </a:ext>
            </a:extLst>
          </p:cNvPr>
          <p:cNvSpPr>
            <a:spLocks noGrp="1"/>
          </p:cNvSpPr>
          <p:nvPr>
            <p:ph type="sldNum" sz="quarter" idx="12"/>
          </p:nvPr>
        </p:nvSpPr>
        <p:spPr/>
        <p:txBody>
          <a:bodyPr/>
          <a:lstStyle/>
          <a:p>
            <a:fld id="{7A83F2B9-769F-47D5-839B-52D4E6E432BF}" type="slidenum">
              <a:rPr lang="en-IN" smtClean="0"/>
              <a:t>‹#›</a:t>
            </a:fld>
            <a:endParaRPr lang="en-IN"/>
          </a:p>
        </p:txBody>
      </p:sp>
    </p:spTree>
    <p:extLst>
      <p:ext uri="{BB962C8B-B14F-4D97-AF65-F5344CB8AC3E}">
        <p14:creationId xmlns:p14="http://schemas.microsoft.com/office/powerpoint/2010/main" val="2271572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C95DB-FB09-77D8-0B0F-F0D9EEBFD4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100614-4E74-6B3E-2B3A-6ACA141465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6016E7-5E25-88DD-38F0-13E6CC4F2A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33A9D6-D413-4CA8-B662-18DF67EE1849}" type="datetimeFigureOut">
              <a:rPr lang="en-IN" smtClean="0"/>
              <a:t>23-02-2026</a:t>
            </a:fld>
            <a:endParaRPr lang="en-IN"/>
          </a:p>
        </p:txBody>
      </p:sp>
      <p:sp>
        <p:nvSpPr>
          <p:cNvPr id="5" name="Footer Placeholder 4">
            <a:extLst>
              <a:ext uri="{FF2B5EF4-FFF2-40B4-BE49-F238E27FC236}">
                <a16:creationId xmlns:a16="http://schemas.microsoft.com/office/drawing/2014/main" id="{791B9B08-D4AD-2490-F2D1-8718E88DBF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8531215-61C2-F92F-DC3C-5EEF9ADF99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83F2B9-769F-47D5-839B-52D4E6E432BF}" type="slidenum">
              <a:rPr lang="en-IN" smtClean="0"/>
              <a:t>‹#›</a:t>
            </a:fld>
            <a:endParaRPr lang="en-IN"/>
          </a:p>
        </p:txBody>
      </p:sp>
    </p:spTree>
    <p:extLst>
      <p:ext uri="{BB962C8B-B14F-4D97-AF65-F5344CB8AC3E}">
        <p14:creationId xmlns:p14="http://schemas.microsoft.com/office/powerpoint/2010/main" val="2496027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5.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3EA5CFEF-0353-2A8E-6748-D79DED4A10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A3652D93-5BEE-C6F2-F1A6-E4C7772EF210}"/>
              </a:ext>
            </a:extLst>
          </p:cNvPr>
          <p:cNvSpPr>
            <a:spLocks noGrp="1"/>
          </p:cNvSpPr>
          <p:nvPr>
            <p:ph type="subTitle" idx="1"/>
          </p:nvPr>
        </p:nvSpPr>
        <p:spPr>
          <a:xfrm>
            <a:off x="2172765" y="4321138"/>
            <a:ext cx="7399428" cy="1720646"/>
          </a:xfrm>
        </p:spPr>
        <p:txBody>
          <a:bodyPr>
            <a:normAutofit/>
          </a:bodyPr>
          <a:lstStyle/>
          <a:p>
            <a:r>
              <a:rPr lang="en-US" sz="3600" dirty="0">
                <a:solidFill>
                  <a:schemeClr val="bg1"/>
                </a:solidFill>
                <a:latin typeface="Algerian" panose="04020705040A02060702" pitchFamily="82" charset="0"/>
              </a:rPr>
              <a:t>Automated Podcast Transcription and Topic Segmentation </a:t>
            </a:r>
            <a:endParaRPr lang="en-IN" sz="3600" dirty="0">
              <a:solidFill>
                <a:schemeClr val="bg1"/>
              </a:solidFill>
              <a:latin typeface="Algerian" panose="04020705040A02060702" pitchFamily="82" charset="0"/>
            </a:endParaRPr>
          </a:p>
        </p:txBody>
      </p:sp>
      <p:sp>
        <p:nvSpPr>
          <p:cNvPr id="4" name="TextBox 3">
            <a:extLst>
              <a:ext uri="{FF2B5EF4-FFF2-40B4-BE49-F238E27FC236}">
                <a16:creationId xmlns:a16="http://schemas.microsoft.com/office/drawing/2014/main" id="{6235E7D8-2AEB-B822-5EC0-4602DF1AE53C}"/>
              </a:ext>
            </a:extLst>
          </p:cNvPr>
          <p:cNvSpPr txBox="1"/>
          <p:nvPr/>
        </p:nvSpPr>
        <p:spPr>
          <a:xfrm>
            <a:off x="835742" y="4486546"/>
            <a:ext cx="10520515"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b="1" dirty="0">
                <a:solidFill>
                  <a:schemeClr val="tx1"/>
                </a:solidFill>
                <a:latin typeface="Century" panose="02040604050505020304" pitchFamily="18" charset="0"/>
              </a:rPr>
              <a:t> </a:t>
            </a:r>
            <a:endParaRPr lang="en-IN" sz="2400" b="1" dirty="0">
              <a:solidFill>
                <a:schemeClr val="bg1"/>
              </a:solidFill>
              <a:latin typeface="Century" panose="02040604050505020304" pitchFamily="18" charset="0"/>
            </a:endParaRPr>
          </a:p>
        </p:txBody>
      </p:sp>
      <p:sp>
        <p:nvSpPr>
          <p:cNvPr id="5" name="TextBox 4">
            <a:extLst>
              <a:ext uri="{FF2B5EF4-FFF2-40B4-BE49-F238E27FC236}">
                <a16:creationId xmlns:a16="http://schemas.microsoft.com/office/drawing/2014/main" id="{02E0627F-09B0-9FDA-B05A-053D45FDD7F2}"/>
              </a:ext>
            </a:extLst>
          </p:cNvPr>
          <p:cNvSpPr txBox="1"/>
          <p:nvPr/>
        </p:nvSpPr>
        <p:spPr>
          <a:xfrm>
            <a:off x="2976880" y="375920"/>
            <a:ext cx="5455920" cy="954107"/>
          </a:xfrm>
          <a:prstGeom prst="rect">
            <a:avLst/>
          </a:prstGeom>
          <a:noFill/>
          <a:ln>
            <a:solidFill>
              <a:schemeClr val="bg2">
                <a:lumMod val="25000"/>
              </a:schemeClr>
            </a:solidFill>
          </a:ln>
        </p:spPr>
        <p:txBody>
          <a:bodyPr wrap="square" rtlCol="0">
            <a:spAutoFit/>
          </a:bodyPr>
          <a:lstStyle/>
          <a:p>
            <a:pPr algn="ctr"/>
            <a:r>
              <a:rPr lang="en-US" sz="2800" b="1" dirty="0">
                <a:solidFill>
                  <a:schemeClr val="bg1"/>
                </a:solidFill>
                <a:latin typeface="Arial Rounded MT Bold" panose="020F0704030504030204" pitchFamily="34" charset="0"/>
              </a:rPr>
              <a:t>INFOSYS SPRINGBOARD </a:t>
            </a:r>
          </a:p>
          <a:p>
            <a:pPr algn="ctr"/>
            <a:r>
              <a:rPr lang="en-US" sz="2800" b="1" dirty="0">
                <a:solidFill>
                  <a:schemeClr val="bg1"/>
                </a:solidFill>
                <a:latin typeface="Arial Rounded MT Bold" panose="020F0704030504030204" pitchFamily="34" charset="0"/>
              </a:rPr>
              <a:t>    Virtual Internship 6.0</a:t>
            </a:r>
            <a:endParaRPr lang="en-IN" sz="2800" b="1" dirty="0">
              <a:solidFill>
                <a:schemeClr val="bg1"/>
              </a:solidFill>
              <a:latin typeface="Arial Rounded MT Bold" panose="020F0704030504030204" pitchFamily="34" charset="0"/>
            </a:endParaRPr>
          </a:p>
        </p:txBody>
      </p:sp>
      <p:sp>
        <p:nvSpPr>
          <p:cNvPr id="13" name="TextBox 12">
            <a:extLst>
              <a:ext uri="{FF2B5EF4-FFF2-40B4-BE49-F238E27FC236}">
                <a16:creationId xmlns:a16="http://schemas.microsoft.com/office/drawing/2014/main" id="{2C40D76B-41D2-265A-4EC2-954BEC96F592}"/>
              </a:ext>
            </a:extLst>
          </p:cNvPr>
          <p:cNvSpPr txBox="1"/>
          <p:nvPr/>
        </p:nvSpPr>
        <p:spPr>
          <a:xfrm>
            <a:off x="3733800" y="2782669"/>
            <a:ext cx="3942080" cy="646331"/>
          </a:xfrm>
          <a:prstGeom prst="rect">
            <a:avLst/>
          </a:prstGeom>
          <a:noFill/>
        </p:spPr>
        <p:txBody>
          <a:bodyPr wrap="square" rtlCol="0">
            <a:spAutoFit/>
          </a:bodyPr>
          <a:lstStyle/>
          <a:p>
            <a:pPr algn="ctr"/>
            <a:r>
              <a:rPr lang="en-US" sz="3600" b="1" dirty="0">
                <a:solidFill>
                  <a:schemeClr val="bg1"/>
                </a:solidFill>
                <a:latin typeface="Lucida Calligraphy" panose="03010101010101010101" pitchFamily="66" charset="0"/>
              </a:rPr>
              <a:t>TALK2TOPICS</a:t>
            </a:r>
            <a:endParaRPr lang="en-IN" sz="3600" b="1" dirty="0">
              <a:solidFill>
                <a:schemeClr val="bg1"/>
              </a:solidFill>
              <a:latin typeface="Lucida Calligraphy" panose="03010101010101010101" pitchFamily="66" charset="0"/>
            </a:endParaRPr>
          </a:p>
        </p:txBody>
      </p:sp>
    </p:spTree>
    <p:extLst>
      <p:ext uri="{BB962C8B-B14F-4D97-AF65-F5344CB8AC3E}">
        <p14:creationId xmlns:p14="http://schemas.microsoft.com/office/powerpoint/2010/main" val="3280280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C37E958-DD03-24C0-7F42-C627753363F6}"/>
              </a:ext>
            </a:extLst>
          </p:cNvPr>
          <p:cNvSpPr/>
          <p:nvPr/>
        </p:nvSpPr>
        <p:spPr>
          <a:xfrm>
            <a:off x="98323" y="108155"/>
            <a:ext cx="11985522" cy="665643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sp>
        <p:nvSpPr>
          <p:cNvPr id="5" name="Frame 4">
            <a:extLst>
              <a:ext uri="{FF2B5EF4-FFF2-40B4-BE49-F238E27FC236}">
                <a16:creationId xmlns:a16="http://schemas.microsoft.com/office/drawing/2014/main" id="{6DA7F27B-8368-BAB9-7FD1-64D558D9F522}"/>
              </a:ext>
            </a:extLst>
          </p:cNvPr>
          <p:cNvSpPr/>
          <p:nvPr/>
        </p:nvSpPr>
        <p:spPr>
          <a:xfrm>
            <a:off x="3927985" y="300001"/>
            <a:ext cx="4385187" cy="639097"/>
          </a:xfrm>
          <a:prstGeom prst="frame">
            <a:avLst>
              <a:gd name="adj1" fmla="val 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dirty="0">
                <a:solidFill>
                  <a:schemeClr val="tx1"/>
                </a:solidFill>
                <a:latin typeface="Algerian" panose="04020705040A02060702" pitchFamily="82" charset="0"/>
              </a:rPr>
              <a:t>PROJECT OVERVIEW</a:t>
            </a:r>
            <a:endParaRPr lang="en-IN" sz="3200" dirty="0">
              <a:solidFill>
                <a:schemeClr val="tx1"/>
              </a:solidFill>
              <a:latin typeface="Algerian" panose="04020705040A02060702" pitchFamily="82" charset="0"/>
            </a:endParaRPr>
          </a:p>
        </p:txBody>
      </p:sp>
      <p:sp>
        <p:nvSpPr>
          <p:cNvPr id="15" name="Rectangle 14">
            <a:extLst>
              <a:ext uri="{FF2B5EF4-FFF2-40B4-BE49-F238E27FC236}">
                <a16:creationId xmlns:a16="http://schemas.microsoft.com/office/drawing/2014/main" id="{7A790223-AB43-45FF-54A8-31C6A2DEA90D}"/>
              </a:ext>
            </a:extLst>
          </p:cNvPr>
          <p:cNvSpPr/>
          <p:nvPr/>
        </p:nvSpPr>
        <p:spPr>
          <a:xfrm>
            <a:off x="378542" y="1115959"/>
            <a:ext cx="11434916" cy="1671481"/>
          </a:xfrm>
          <a:prstGeom prst="rect">
            <a:avLst/>
          </a:prstGeom>
          <a:solidFill>
            <a:schemeClr val="accent5">
              <a:lumMod val="40000"/>
              <a:lumOff val="6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7C716CF8-90B9-094D-E877-E22CB7790986}"/>
              </a:ext>
            </a:extLst>
          </p:cNvPr>
          <p:cNvSpPr/>
          <p:nvPr/>
        </p:nvSpPr>
        <p:spPr>
          <a:xfrm>
            <a:off x="290052" y="3067663"/>
            <a:ext cx="11434916" cy="1671481"/>
          </a:xfrm>
          <a:prstGeom prst="rect">
            <a:avLst/>
          </a:prstGeom>
          <a:solidFill>
            <a:srgbClr val="0070C0">
              <a:alpha val="49804"/>
            </a:srgb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b="1" dirty="0">
              <a:latin typeface="Century" panose="02040604050505020304" pitchFamily="18" charset="0"/>
            </a:endParaRPr>
          </a:p>
        </p:txBody>
      </p:sp>
      <p:sp>
        <p:nvSpPr>
          <p:cNvPr id="18" name="Rectangle 17">
            <a:extLst>
              <a:ext uri="{FF2B5EF4-FFF2-40B4-BE49-F238E27FC236}">
                <a16:creationId xmlns:a16="http://schemas.microsoft.com/office/drawing/2014/main" id="{4F64DCC1-74A7-42F8-5FB8-D5CCE77BB8A5}"/>
              </a:ext>
            </a:extLst>
          </p:cNvPr>
          <p:cNvSpPr/>
          <p:nvPr/>
        </p:nvSpPr>
        <p:spPr>
          <a:xfrm>
            <a:off x="378542" y="5009537"/>
            <a:ext cx="11434916" cy="1700980"/>
          </a:xfrm>
          <a:prstGeom prst="rect">
            <a:avLst/>
          </a:prstGeom>
          <a:solidFill>
            <a:srgbClr val="00B0F0"/>
          </a:solidFill>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9" name="TextBox 18">
            <a:extLst>
              <a:ext uri="{FF2B5EF4-FFF2-40B4-BE49-F238E27FC236}">
                <a16:creationId xmlns:a16="http://schemas.microsoft.com/office/drawing/2014/main" id="{31EF95F0-378E-E0CF-2AF2-57A2D4F4506D}"/>
              </a:ext>
            </a:extLst>
          </p:cNvPr>
          <p:cNvSpPr txBox="1"/>
          <p:nvPr/>
        </p:nvSpPr>
        <p:spPr>
          <a:xfrm>
            <a:off x="4387645" y="1200217"/>
            <a:ext cx="3416710" cy="461665"/>
          </a:xfrm>
          <a:prstGeom prst="rect">
            <a:avLst/>
          </a:prstGeom>
          <a:noFill/>
        </p:spPr>
        <p:txBody>
          <a:bodyPr wrap="square" rtlCol="0">
            <a:spAutoFit/>
          </a:bodyPr>
          <a:lstStyle/>
          <a:p>
            <a:r>
              <a:rPr lang="en-US" sz="2400" b="1" u="sng" dirty="0">
                <a:latin typeface="Century" panose="02040604050505020304" pitchFamily="18" charset="0"/>
              </a:rPr>
              <a:t>Problem Statement </a:t>
            </a:r>
            <a:endParaRPr lang="en-IN" sz="2400" b="1" u="sng" dirty="0">
              <a:latin typeface="Century" panose="02040604050505020304" pitchFamily="18" charset="0"/>
            </a:endParaRPr>
          </a:p>
        </p:txBody>
      </p:sp>
      <p:sp>
        <p:nvSpPr>
          <p:cNvPr id="20" name="TextBox 19">
            <a:extLst>
              <a:ext uri="{FF2B5EF4-FFF2-40B4-BE49-F238E27FC236}">
                <a16:creationId xmlns:a16="http://schemas.microsoft.com/office/drawing/2014/main" id="{DE9410F0-DA0C-D188-43EC-F13B06E1BCBB}"/>
              </a:ext>
            </a:extLst>
          </p:cNvPr>
          <p:cNvSpPr txBox="1"/>
          <p:nvPr/>
        </p:nvSpPr>
        <p:spPr>
          <a:xfrm>
            <a:off x="5014452" y="3097161"/>
            <a:ext cx="2163097" cy="461665"/>
          </a:xfrm>
          <a:prstGeom prst="rect">
            <a:avLst/>
          </a:prstGeom>
          <a:noFill/>
        </p:spPr>
        <p:txBody>
          <a:bodyPr wrap="square" rtlCol="0">
            <a:spAutoFit/>
          </a:bodyPr>
          <a:lstStyle/>
          <a:p>
            <a:pPr algn="ctr"/>
            <a:r>
              <a:rPr lang="en-US" sz="2400" b="1" u="sng" dirty="0">
                <a:latin typeface="Century" panose="02040604050505020304" pitchFamily="18" charset="0"/>
              </a:rPr>
              <a:t>Objectives</a:t>
            </a:r>
            <a:endParaRPr lang="en-IN" sz="2400" b="1" u="sng" dirty="0">
              <a:latin typeface="Century" panose="02040604050505020304" pitchFamily="18" charset="0"/>
            </a:endParaRPr>
          </a:p>
        </p:txBody>
      </p:sp>
      <p:sp>
        <p:nvSpPr>
          <p:cNvPr id="21" name="TextBox 20">
            <a:extLst>
              <a:ext uri="{FF2B5EF4-FFF2-40B4-BE49-F238E27FC236}">
                <a16:creationId xmlns:a16="http://schemas.microsoft.com/office/drawing/2014/main" id="{5DF49919-FC57-DC5C-6213-8EC2EC8B8C34}"/>
              </a:ext>
            </a:extLst>
          </p:cNvPr>
          <p:cNvSpPr txBox="1"/>
          <p:nvPr/>
        </p:nvSpPr>
        <p:spPr>
          <a:xfrm>
            <a:off x="4714568" y="5039707"/>
            <a:ext cx="2762865" cy="461665"/>
          </a:xfrm>
          <a:prstGeom prst="rect">
            <a:avLst/>
          </a:prstGeom>
          <a:noFill/>
        </p:spPr>
        <p:txBody>
          <a:bodyPr wrap="square" rtlCol="0">
            <a:spAutoFit/>
          </a:bodyPr>
          <a:lstStyle/>
          <a:p>
            <a:pPr algn="ctr"/>
            <a:r>
              <a:rPr lang="en-US" sz="2400" b="1" u="sng" dirty="0">
                <a:latin typeface="Century" panose="02040604050505020304" pitchFamily="18" charset="0"/>
              </a:rPr>
              <a:t>Significance</a:t>
            </a:r>
            <a:endParaRPr lang="en-IN" sz="2400" b="1" u="sng" dirty="0">
              <a:latin typeface="Century" panose="02040604050505020304" pitchFamily="18" charset="0"/>
            </a:endParaRPr>
          </a:p>
        </p:txBody>
      </p:sp>
      <p:sp>
        <p:nvSpPr>
          <p:cNvPr id="22" name="TextBox 21">
            <a:extLst>
              <a:ext uri="{FF2B5EF4-FFF2-40B4-BE49-F238E27FC236}">
                <a16:creationId xmlns:a16="http://schemas.microsoft.com/office/drawing/2014/main" id="{C6F4FBCE-BD9C-1E39-8952-96EB974F0CB7}"/>
              </a:ext>
            </a:extLst>
          </p:cNvPr>
          <p:cNvSpPr txBox="1"/>
          <p:nvPr/>
        </p:nvSpPr>
        <p:spPr>
          <a:xfrm>
            <a:off x="653844" y="1735852"/>
            <a:ext cx="10933471" cy="933834"/>
          </a:xfrm>
          <a:prstGeom prst="rect">
            <a:avLst/>
          </a:prstGeom>
          <a:noFill/>
        </p:spPr>
        <p:txBody>
          <a:bodyPr wrap="square" rtlCol="0">
            <a:spAutoFit/>
          </a:bodyPr>
          <a:lstStyle/>
          <a:p>
            <a:pPr marL="285750" indent="-285750">
              <a:buFont typeface="Arial" panose="020B0604020202020204" pitchFamily="34" charset="0"/>
              <a:buChar char="•"/>
            </a:pPr>
            <a:r>
              <a:rPr lang="en-US" b="1" dirty="0"/>
              <a:t>Long podcast episodes contain valuable insights but are difficult to quickly search or skim. </a:t>
            </a:r>
          </a:p>
          <a:p>
            <a:pPr marL="285750" indent="-285750">
              <a:buFont typeface="Arial" panose="020B0604020202020204" pitchFamily="34" charset="0"/>
              <a:buChar char="•"/>
            </a:pPr>
            <a:r>
              <a:rPr lang="en-US" b="1" dirty="0"/>
              <a:t>Users must listen to entire recordings to locate specific discussions or topics. </a:t>
            </a:r>
          </a:p>
          <a:p>
            <a:pPr marL="285750" indent="-285750">
              <a:buFont typeface="Arial" panose="020B0604020202020204" pitchFamily="34" charset="0"/>
              <a:buChar char="•"/>
            </a:pPr>
            <a:r>
              <a:rPr lang="en-US" b="1" dirty="0"/>
              <a:t>Existing transcripts lack structure, making navigation and information retrieval inefficient</a:t>
            </a:r>
            <a:r>
              <a:rPr lang="en-US" dirty="0"/>
              <a:t>.</a:t>
            </a:r>
            <a:endParaRPr lang="en-IN" dirty="0"/>
          </a:p>
        </p:txBody>
      </p:sp>
      <p:sp>
        <p:nvSpPr>
          <p:cNvPr id="23" name="TextBox 22">
            <a:extLst>
              <a:ext uri="{FF2B5EF4-FFF2-40B4-BE49-F238E27FC236}">
                <a16:creationId xmlns:a16="http://schemas.microsoft.com/office/drawing/2014/main" id="{7F5E85D6-4B38-5C97-3A2E-9013F20F897E}"/>
              </a:ext>
            </a:extLst>
          </p:cNvPr>
          <p:cNvSpPr txBox="1"/>
          <p:nvPr/>
        </p:nvSpPr>
        <p:spPr>
          <a:xfrm>
            <a:off x="653844" y="3638953"/>
            <a:ext cx="10495937"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t>Develop a system that converts podcast audio into structured, readable text automatically. </a:t>
            </a:r>
          </a:p>
          <a:p>
            <a:pPr marL="285750" indent="-285750">
              <a:buFont typeface="Arial" panose="020B0604020202020204" pitchFamily="34" charset="0"/>
              <a:buChar char="•"/>
            </a:pPr>
            <a:r>
              <a:rPr lang="en-US" b="1" dirty="0"/>
              <a:t>Detect topic boundaries using semantic analysis for meaningful segmentation. </a:t>
            </a:r>
          </a:p>
          <a:p>
            <a:pPr marL="285750" indent="-285750">
              <a:buFont typeface="Arial" panose="020B0604020202020204" pitchFamily="34" charset="0"/>
              <a:buChar char="•"/>
            </a:pPr>
            <a:r>
              <a:rPr lang="en-US" b="1" dirty="0"/>
              <a:t>Generate concise summaries and keywords to highlight important information</a:t>
            </a:r>
            <a:endParaRPr lang="en-IN" b="1" dirty="0"/>
          </a:p>
        </p:txBody>
      </p:sp>
      <p:sp>
        <p:nvSpPr>
          <p:cNvPr id="26" name="TextBox 25">
            <a:extLst>
              <a:ext uri="{FF2B5EF4-FFF2-40B4-BE49-F238E27FC236}">
                <a16:creationId xmlns:a16="http://schemas.microsoft.com/office/drawing/2014/main" id="{3889AD46-392F-83A4-C98E-BFDC735FBB72}"/>
              </a:ext>
            </a:extLst>
          </p:cNvPr>
          <p:cNvSpPr txBox="1"/>
          <p:nvPr/>
        </p:nvSpPr>
        <p:spPr>
          <a:xfrm>
            <a:off x="816077" y="5521036"/>
            <a:ext cx="10432026"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Reduces time required to explore long audio content. </a:t>
            </a:r>
          </a:p>
          <a:p>
            <a:pPr marL="285750" indent="-285750">
              <a:buFont typeface="Arial" panose="020B0604020202020204" pitchFamily="34" charset="0"/>
              <a:buChar char="•"/>
            </a:pPr>
            <a:r>
              <a:rPr lang="en-US" b="1" dirty="0"/>
              <a:t>Makes podcasts searchable, readable, and easier to analyze and  improves accessibility for students, researchers, and professionals.</a:t>
            </a:r>
          </a:p>
          <a:p>
            <a:pPr marL="285750" indent="-285750">
              <a:buFont typeface="Arial" panose="020B0604020202020204" pitchFamily="34" charset="0"/>
              <a:buChar char="•"/>
            </a:pPr>
            <a:r>
              <a:rPr lang="en-US" b="1" dirty="0"/>
              <a:t> Transforms raw audio into structured knowledge for efficient understanding.</a:t>
            </a:r>
          </a:p>
        </p:txBody>
      </p:sp>
    </p:spTree>
    <p:extLst>
      <p:ext uri="{BB962C8B-B14F-4D97-AF65-F5344CB8AC3E}">
        <p14:creationId xmlns:p14="http://schemas.microsoft.com/office/powerpoint/2010/main" val="2977311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ame 1">
            <a:extLst>
              <a:ext uri="{FF2B5EF4-FFF2-40B4-BE49-F238E27FC236}">
                <a16:creationId xmlns:a16="http://schemas.microsoft.com/office/drawing/2014/main" id="{F5726A83-CA16-AA75-1E1C-5104913A230D}"/>
              </a:ext>
            </a:extLst>
          </p:cNvPr>
          <p:cNvSpPr/>
          <p:nvPr/>
        </p:nvSpPr>
        <p:spPr>
          <a:xfrm>
            <a:off x="0" y="0"/>
            <a:ext cx="12192000" cy="6858000"/>
          </a:xfrm>
          <a:prstGeom prst="frame">
            <a:avLst>
              <a:gd name="adj1" fmla="val 2321"/>
            </a:avLst>
          </a:prstGeom>
          <a:solidFill>
            <a:srgbClr val="8FD2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Rectangle 2">
            <a:extLst>
              <a:ext uri="{FF2B5EF4-FFF2-40B4-BE49-F238E27FC236}">
                <a16:creationId xmlns:a16="http://schemas.microsoft.com/office/drawing/2014/main" id="{6BC7407C-1A06-077C-8C3A-F3A33F5640CD}"/>
              </a:ext>
            </a:extLst>
          </p:cNvPr>
          <p:cNvSpPr/>
          <p:nvPr/>
        </p:nvSpPr>
        <p:spPr>
          <a:xfrm>
            <a:off x="4114800" y="368303"/>
            <a:ext cx="4236720" cy="5283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latin typeface="Algerian" panose="04020705040A02060702" pitchFamily="82" charset="0"/>
              </a:rPr>
              <a:t>DATASET DESCRIPTION</a:t>
            </a:r>
            <a:endParaRPr lang="en-IN" sz="2800" dirty="0">
              <a:latin typeface="Algerian" panose="04020705040A02060702" pitchFamily="82" charset="0"/>
            </a:endParaRPr>
          </a:p>
        </p:txBody>
      </p:sp>
      <p:grpSp>
        <p:nvGrpSpPr>
          <p:cNvPr id="21" name="Group 20">
            <a:extLst>
              <a:ext uri="{FF2B5EF4-FFF2-40B4-BE49-F238E27FC236}">
                <a16:creationId xmlns:a16="http://schemas.microsoft.com/office/drawing/2014/main" id="{0C5CED55-E56F-D2E8-0D52-ED09A4A665C8}"/>
              </a:ext>
            </a:extLst>
          </p:cNvPr>
          <p:cNvGrpSpPr/>
          <p:nvPr/>
        </p:nvGrpSpPr>
        <p:grpSpPr>
          <a:xfrm>
            <a:off x="398780" y="1137914"/>
            <a:ext cx="11182350" cy="599444"/>
            <a:chOff x="419100" y="1412227"/>
            <a:chExt cx="11182350" cy="599444"/>
          </a:xfrm>
        </p:grpSpPr>
        <p:sp>
          <p:nvSpPr>
            <p:cNvPr id="8" name="Rectangle 7">
              <a:extLst>
                <a:ext uri="{FF2B5EF4-FFF2-40B4-BE49-F238E27FC236}">
                  <a16:creationId xmlns:a16="http://schemas.microsoft.com/office/drawing/2014/main" id="{A4922B22-71DA-1265-BE74-5EF924C3DAA6}"/>
                </a:ext>
              </a:extLst>
            </p:cNvPr>
            <p:cNvSpPr/>
            <p:nvPr/>
          </p:nvSpPr>
          <p:spPr>
            <a:xfrm>
              <a:off x="419100" y="1432557"/>
              <a:ext cx="2151380" cy="548640"/>
            </a:xfrm>
            <a:prstGeom prst="rect">
              <a:avLst/>
            </a:prstGeom>
            <a:solidFill>
              <a:srgbClr val="8FD2FC"/>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b="1" dirty="0">
                  <a:latin typeface="Century" panose="02040604050505020304" pitchFamily="18" charset="0"/>
                </a:rPr>
                <a:t>Dataset Source</a:t>
              </a:r>
            </a:p>
          </p:txBody>
        </p:sp>
        <p:pic>
          <p:nvPicPr>
            <p:cNvPr id="14" name="Graphic 13" descr="Line arrow: Straight with solid fill">
              <a:extLst>
                <a:ext uri="{FF2B5EF4-FFF2-40B4-BE49-F238E27FC236}">
                  <a16:creationId xmlns:a16="http://schemas.microsoft.com/office/drawing/2014/main" id="{7F655A45-33CC-24A9-1AF1-0D7782973F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2673350" y="1432558"/>
              <a:ext cx="568960" cy="548639"/>
            </a:xfrm>
            <a:prstGeom prst="rect">
              <a:avLst/>
            </a:prstGeom>
          </p:spPr>
        </p:pic>
        <p:sp>
          <p:nvSpPr>
            <p:cNvPr id="15" name="Rectangle 14">
              <a:extLst>
                <a:ext uri="{FF2B5EF4-FFF2-40B4-BE49-F238E27FC236}">
                  <a16:creationId xmlns:a16="http://schemas.microsoft.com/office/drawing/2014/main" id="{33595319-4427-836B-5CA5-3208B9774B9B}"/>
                </a:ext>
              </a:extLst>
            </p:cNvPr>
            <p:cNvSpPr/>
            <p:nvPr/>
          </p:nvSpPr>
          <p:spPr>
            <a:xfrm>
              <a:off x="3404870" y="1452874"/>
              <a:ext cx="2167889" cy="548640"/>
            </a:xfrm>
            <a:prstGeom prst="rect">
              <a:avLst/>
            </a:prstGeom>
            <a:solidFill>
              <a:srgbClr val="8FD2FC"/>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b="1" dirty="0">
                  <a:latin typeface="Century" panose="02040604050505020304" pitchFamily="18" charset="0"/>
                </a:rPr>
                <a:t>Audio Format</a:t>
              </a:r>
            </a:p>
          </p:txBody>
        </p:sp>
        <p:pic>
          <p:nvPicPr>
            <p:cNvPr id="16" name="Graphic 15" descr="Line arrow: Straight with solid fill">
              <a:extLst>
                <a:ext uri="{FF2B5EF4-FFF2-40B4-BE49-F238E27FC236}">
                  <a16:creationId xmlns:a16="http://schemas.microsoft.com/office/drawing/2014/main" id="{683A97D8-3276-10F3-C33E-C0BB8C0EEE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711825" y="1463032"/>
              <a:ext cx="568960" cy="548639"/>
            </a:xfrm>
            <a:prstGeom prst="rect">
              <a:avLst/>
            </a:prstGeom>
          </p:spPr>
        </p:pic>
        <p:sp>
          <p:nvSpPr>
            <p:cNvPr id="17" name="Rectangle 16">
              <a:extLst>
                <a:ext uri="{FF2B5EF4-FFF2-40B4-BE49-F238E27FC236}">
                  <a16:creationId xmlns:a16="http://schemas.microsoft.com/office/drawing/2014/main" id="{0A6DED14-56F6-8041-3427-D8765BE8ECD7}"/>
                </a:ext>
              </a:extLst>
            </p:cNvPr>
            <p:cNvSpPr/>
            <p:nvPr/>
          </p:nvSpPr>
          <p:spPr>
            <a:xfrm>
              <a:off x="6522720" y="1432557"/>
              <a:ext cx="2081530" cy="548640"/>
            </a:xfrm>
            <a:prstGeom prst="rect">
              <a:avLst/>
            </a:prstGeom>
            <a:solidFill>
              <a:srgbClr val="8FD2FC"/>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dirty="0"/>
                <a:t> </a:t>
              </a:r>
              <a:r>
                <a:rPr lang="en-IN" sz="2000" b="1" dirty="0">
                  <a:latin typeface="Century" panose="02040604050505020304" pitchFamily="18" charset="0"/>
                </a:rPr>
                <a:t>Preprocessing</a:t>
              </a:r>
              <a:r>
                <a:rPr lang="en-IN" sz="2000" dirty="0"/>
                <a:t> </a:t>
              </a:r>
            </a:p>
          </p:txBody>
        </p:sp>
        <p:pic>
          <p:nvPicPr>
            <p:cNvPr id="18" name="Graphic 17" descr="Line arrow: Straight with solid fill">
              <a:extLst>
                <a:ext uri="{FF2B5EF4-FFF2-40B4-BE49-F238E27FC236}">
                  <a16:creationId xmlns:a16="http://schemas.microsoft.com/office/drawing/2014/main" id="{9A7509A3-C412-0403-7D83-A0A6A55C97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8747125" y="1412227"/>
              <a:ext cx="568960" cy="548639"/>
            </a:xfrm>
            <a:prstGeom prst="rect">
              <a:avLst/>
            </a:prstGeom>
          </p:spPr>
        </p:pic>
        <p:sp>
          <p:nvSpPr>
            <p:cNvPr id="19" name="Rectangle 18">
              <a:extLst>
                <a:ext uri="{FF2B5EF4-FFF2-40B4-BE49-F238E27FC236}">
                  <a16:creationId xmlns:a16="http://schemas.microsoft.com/office/drawing/2014/main" id="{83780310-7025-16B9-E31F-38545E02B5E4}"/>
                </a:ext>
              </a:extLst>
            </p:cNvPr>
            <p:cNvSpPr/>
            <p:nvPr/>
          </p:nvSpPr>
          <p:spPr>
            <a:xfrm>
              <a:off x="9519920" y="1412227"/>
              <a:ext cx="2081530" cy="548640"/>
            </a:xfrm>
            <a:prstGeom prst="rect">
              <a:avLst/>
            </a:prstGeom>
            <a:solidFill>
              <a:srgbClr val="8FD2FC"/>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IN" sz="2000" b="1" dirty="0">
                  <a:latin typeface="Century" panose="02040604050505020304" pitchFamily="18" charset="0"/>
                </a:rPr>
                <a:t>Final Dataset</a:t>
              </a:r>
            </a:p>
          </p:txBody>
        </p:sp>
      </p:grpSp>
      <p:sp>
        <p:nvSpPr>
          <p:cNvPr id="20" name="Rectangle 19">
            <a:extLst>
              <a:ext uri="{FF2B5EF4-FFF2-40B4-BE49-F238E27FC236}">
                <a16:creationId xmlns:a16="http://schemas.microsoft.com/office/drawing/2014/main" id="{57C35912-FE13-19A8-A7B6-A0B1589BB80C}"/>
              </a:ext>
            </a:extLst>
          </p:cNvPr>
          <p:cNvSpPr/>
          <p:nvPr/>
        </p:nvSpPr>
        <p:spPr>
          <a:xfrm>
            <a:off x="995680" y="2194560"/>
            <a:ext cx="4551680" cy="1981200"/>
          </a:xfrm>
          <a:prstGeom prst="rect">
            <a:avLst/>
          </a:prstGeom>
          <a:ln>
            <a:solidFill>
              <a:schemeClr val="tx1"/>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endParaRPr lang="en-IN">
              <a:solidFill>
                <a:schemeClr val="tx1"/>
              </a:solidFill>
            </a:endParaRPr>
          </a:p>
        </p:txBody>
      </p:sp>
      <p:sp>
        <p:nvSpPr>
          <p:cNvPr id="22" name="Rectangle 21">
            <a:extLst>
              <a:ext uri="{FF2B5EF4-FFF2-40B4-BE49-F238E27FC236}">
                <a16:creationId xmlns:a16="http://schemas.microsoft.com/office/drawing/2014/main" id="{64308E39-0B60-C703-2BF1-33D95AB05AF9}"/>
              </a:ext>
            </a:extLst>
          </p:cNvPr>
          <p:cNvSpPr/>
          <p:nvPr/>
        </p:nvSpPr>
        <p:spPr>
          <a:xfrm>
            <a:off x="6948170" y="4526280"/>
            <a:ext cx="4551680" cy="1981200"/>
          </a:xfrm>
          <a:prstGeom prst="rect">
            <a:avLst/>
          </a:prstGeom>
          <a:ln>
            <a:solidFill>
              <a:schemeClr val="tx1"/>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23" name="Rectangle 22">
            <a:extLst>
              <a:ext uri="{FF2B5EF4-FFF2-40B4-BE49-F238E27FC236}">
                <a16:creationId xmlns:a16="http://schemas.microsoft.com/office/drawing/2014/main" id="{9CBBCC3C-95D2-B14E-3A0C-2D62BF668DD0}"/>
              </a:ext>
            </a:extLst>
          </p:cNvPr>
          <p:cNvSpPr/>
          <p:nvPr/>
        </p:nvSpPr>
        <p:spPr>
          <a:xfrm>
            <a:off x="6948170" y="2194560"/>
            <a:ext cx="4551680" cy="1981200"/>
          </a:xfrm>
          <a:prstGeom prst="rect">
            <a:avLst/>
          </a:prstGeom>
          <a:ln>
            <a:solidFill>
              <a:schemeClr val="tx1"/>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24" name="Rectangle 23">
            <a:extLst>
              <a:ext uri="{FF2B5EF4-FFF2-40B4-BE49-F238E27FC236}">
                <a16:creationId xmlns:a16="http://schemas.microsoft.com/office/drawing/2014/main" id="{4837B8C2-FDC2-080D-E230-6754F5B810DA}"/>
              </a:ext>
            </a:extLst>
          </p:cNvPr>
          <p:cNvSpPr/>
          <p:nvPr/>
        </p:nvSpPr>
        <p:spPr>
          <a:xfrm>
            <a:off x="985520" y="4526280"/>
            <a:ext cx="4551680" cy="1981200"/>
          </a:xfrm>
          <a:prstGeom prst="rect">
            <a:avLst/>
          </a:prstGeom>
          <a:ln>
            <a:solidFill>
              <a:schemeClr val="tx1"/>
            </a:solidFill>
          </a:ln>
          <a:effectLst>
            <a:outerShdw blurRad="50800" dist="38100" dir="2700000" algn="tl"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sp>
        <p:nvSpPr>
          <p:cNvPr id="25" name="Oval 24">
            <a:extLst>
              <a:ext uri="{FF2B5EF4-FFF2-40B4-BE49-F238E27FC236}">
                <a16:creationId xmlns:a16="http://schemas.microsoft.com/office/drawing/2014/main" id="{13BD7388-8AC3-8706-CDCF-DD9A48AB7695}"/>
              </a:ext>
            </a:extLst>
          </p:cNvPr>
          <p:cNvSpPr/>
          <p:nvPr/>
        </p:nvSpPr>
        <p:spPr>
          <a:xfrm>
            <a:off x="398780" y="2326640"/>
            <a:ext cx="434340" cy="416560"/>
          </a:xfrm>
          <a:prstGeom prst="ellipse">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t>1</a:t>
            </a:r>
            <a:endParaRPr lang="en-IN" sz="2000" b="1" dirty="0"/>
          </a:p>
        </p:txBody>
      </p:sp>
      <p:sp>
        <p:nvSpPr>
          <p:cNvPr id="26" name="Oval 25">
            <a:extLst>
              <a:ext uri="{FF2B5EF4-FFF2-40B4-BE49-F238E27FC236}">
                <a16:creationId xmlns:a16="http://schemas.microsoft.com/office/drawing/2014/main" id="{FA535CD6-0DF9-08FC-B17E-9C7B27BCFAAF}"/>
              </a:ext>
            </a:extLst>
          </p:cNvPr>
          <p:cNvSpPr/>
          <p:nvPr/>
        </p:nvSpPr>
        <p:spPr>
          <a:xfrm>
            <a:off x="6325870" y="2270760"/>
            <a:ext cx="434340" cy="416560"/>
          </a:xfrm>
          <a:prstGeom prst="ellipse">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t>2</a:t>
            </a:r>
            <a:endParaRPr lang="en-IN" sz="2000" b="1" dirty="0"/>
          </a:p>
        </p:txBody>
      </p:sp>
      <p:sp>
        <p:nvSpPr>
          <p:cNvPr id="27" name="Oval 26">
            <a:extLst>
              <a:ext uri="{FF2B5EF4-FFF2-40B4-BE49-F238E27FC236}">
                <a16:creationId xmlns:a16="http://schemas.microsoft.com/office/drawing/2014/main" id="{544FD531-2688-2B0C-F024-DF133D9B9014}"/>
              </a:ext>
            </a:extLst>
          </p:cNvPr>
          <p:cNvSpPr/>
          <p:nvPr/>
        </p:nvSpPr>
        <p:spPr>
          <a:xfrm>
            <a:off x="398780" y="4693920"/>
            <a:ext cx="434340" cy="416560"/>
          </a:xfrm>
          <a:prstGeom prst="ellipse">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t>3</a:t>
            </a:r>
            <a:endParaRPr lang="en-IN" sz="2000" b="1" dirty="0"/>
          </a:p>
        </p:txBody>
      </p:sp>
      <p:sp>
        <p:nvSpPr>
          <p:cNvPr id="28" name="Oval 27">
            <a:extLst>
              <a:ext uri="{FF2B5EF4-FFF2-40B4-BE49-F238E27FC236}">
                <a16:creationId xmlns:a16="http://schemas.microsoft.com/office/drawing/2014/main" id="{C831A956-6225-C4F8-5DDC-38E275541145}"/>
              </a:ext>
            </a:extLst>
          </p:cNvPr>
          <p:cNvSpPr/>
          <p:nvPr/>
        </p:nvSpPr>
        <p:spPr>
          <a:xfrm>
            <a:off x="6260465" y="4693920"/>
            <a:ext cx="434340" cy="416560"/>
          </a:xfrm>
          <a:prstGeom prst="ellipse">
            <a:avLst/>
          </a:prstGeom>
          <a:ln>
            <a:solidFill>
              <a:schemeClr val="tx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2000" b="1" dirty="0"/>
              <a:t>4</a:t>
            </a:r>
            <a:endParaRPr lang="en-IN" sz="2000" b="1" dirty="0"/>
          </a:p>
        </p:txBody>
      </p:sp>
      <p:sp>
        <p:nvSpPr>
          <p:cNvPr id="29" name="TextBox 28">
            <a:extLst>
              <a:ext uri="{FF2B5EF4-FFF2-40B4-BE49-F238E27FC236}">
                <a16:creationId xmlns:a16="http://schemas.microsoft.com/office/drawing/2014/main" id="{5224946C-285E-14CA-4B4D-21BA1778B724}"/>
              </a:ext>
            </a:extLst>
          </p:cNvPr>
          <p:cNvSpPr txBox="1"/>
          <p:nvPr/>
        </p:nvSpPr>
        <p:spPr>
          <a:xfrm>
            <a:off x="1103630" y="2185352"/>
            <a:ext cx="2194560" cy="400110"/>
          </a:xfrm>
          <a:prstGeom prst="rect">
            <a:avLst/>
          </a:prstGeom>
          <a:noFill/>
        </p:spPr>
        <p:txBody>
          <a:bodyPr wrap="square" rtlCol="0">
            <a:spAutoFit/>
          </a:bodyPr>
          <a:lstStyle/>
          <a:p>
            <a:r>
              <a:rPr lang="en-US" sz="2000" b="1" u="sng" dirty="0">
                <a:latin typeface="Century" panose="02040604050505020304" pitchFamily="18" charset="0"/>
              </a:rPr>
              <a:t>Dataset Source  </a:t>
            </a:r>
          </a:p>
        </p:txBody>
      </p:sp>
      <p:sp>
        <p:nvSpPr>
          <p:cNvPr id="30" name="TextBox 29">
            <a:extLst>
              <a:ext uri="{FF2B5EF4-FFF2-40B4-BE49-F238E27FC236}">
                <a16:creationId xmlns:a16="http://schemas.microsoft.com/office/drawing/2014/main" id="{65768B4B-F2A9-2B15-F246-99815C08C48F}"/>
              </a:ext>
            </a:extLst>
          </p:cNvPr>
          <p:cNvSpPr txBox="1"/>
          <p:nvPr/>
        </p:nvSpPr>
        <p:spPr>
          <a:xfrm>
            <a:off x="1103630" y="2639534"/>
            <a:ext cx="423672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TED Talks speech dataset </a:t>
            </a:r>
          </a:p>
          <a:p>
            <a:pPr marL="285750" indent="-285750">
              <a:buFont typeface="Arial" panose="020B0604020202020204" pitchFamily="34" charset="0"/>
              <a:buChar char="•"/>
            </a:pPr>
            <a:r>
              <a:rPr lang="en-US" dirty="0"/>
              <a:t>Real long-form spoken content</a:t>
            </a:r>
          </a:p>
          <a:p>
            <a:pPr marL="285750" indent="-285750">
              <a:buFont typeface="Arial" panose="020B0604020202020204" pitchFamily="34" charset="0"/>
              <a:buChar char="•"/>
            </a:pPr>
            <a:r>
              <a:rPr lang="en-US" dirty="0"/>
              <a:t> Multiple speakers &amp; accents </a:t>
            </a:r>
          </a:p>
          <a:p>
            <a:pPr marL="285750" indent="-285750">
              <a:buFont typeface="Arial" panose="020B0604020202020204" pitchFamily="34" charset="0"/>
              <a:buChar char="•"/>
            </a:pPr>
            <a:r>
              <a:rPr lang="en-US" dirty="0"/>
              <a:t>Natural conversational tone Realistic pauses and emphasis</a:t>
            </a:r>
            <a:endParaRPr lang="en-IN" dirty="0"/>
          </a:p>
        </p:txBody>
      </p:sp>
      <p:sp>
        <p:nvSpPr>
          <p:cNvPr id="31" name="TextBox 30">
            <a:extLst>
              <a:ext uri="{FF2B5EF4-FFF2-40B4-BE49-F238E27FC236}">
                <a16:creationId xmlns:a16="http://schemas.microsoft.com/office/drawing/2014/main" id="{2FF323B0-3A76-2B54-1C09-6F370D332A33}"/>
              </a:ext>
            </a:extLst>
          </p:cNvPr>
          <p:cNvSpPr txBox="1"/>
          <p:nvPr/>
        </p:nvSpPr>
        <p:spPr>
          <a:xfrm>
            <a:off x="7061200" y="2194560"/>
            <a:ext cx="2580640" cy="400110"/>
          </a:xfrm>
          <a:prstGeom prst="rect">
            <a:avLst/>
          </a:prstGeom>
          <a:noFill/>
        </p:spPr>
        <p:txBody>
          <a:bodyPr wrap="square" rtlCol="0">
            <a:spAutoFit/>
          </a:bodyPr>
          <a:lstStyle/>
          <a:p>
            <a:r>
              <a:rPr lang="en-US" sz="2000" b="1" u="sng" dirty="0">
                <a:latin typeface="Century" panose="02040604050505020304" pitchFamily="18" charset="0"/>
              </a:rPr>
              <a:t>Audio Format</a:t>
            </a:r>
            <a:endParaRPr lang="en-IN" sz="2000" b="1" u="sng" dirty="0">
              <a:latin typeface="Century" panose="02040604050505020304" pitchFamily="18" charset="0"/>
            </a:endParaRPr>
          </a:p>
        </p:txBody>
      </p:sp>
      <p:sp>
        <p:nvSpPr>
          <p:cNvPr id="32" name="TextBox 31">
            <a:extLst>
              <a:ext uri="{FF2B5EF4-FFF2-40B4-BE49-F238E27FC236}">
                <a16:creationId xmlns:a16="http://schemas.microsoft.com/office/drawing/2014/main" id="{97A99488-DF79-3D7A-F5E9-A194348233E2}"/>
              </a:ext>
            </a:extLst>
          </p:cNvPr>
          <p:cNvSpPr txBox="1"/>
          <p:nvPr/>
        </p:nvSpPr>
        <p:spPr>
          <a:xfrm>
            <a:off x="7061200" y="2654645"/>
            <a:ext cx="413512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Original format: MP3</a:t>
            </a:r>
          </a:p>
          <a:p>
            <a:pPr marL="285750" indent="-285750">
              <a:buFont typeface="Arial" panose="020B0604020202020204" pitchFamily="34" charset="0"/>
              <a:buChar char="•"/>
            </a:pPr>
            <a:r>
              <a:rPr lang="en-US" dirty="0"/>
              <a:t> Converted to WAV for processing  and  standardized sampling rate </a:t>
            </a:r>
          </a:p>
          <a:p>
            <a:pPr marL="285750" indent="-285750">
              <a:buFont typeface="Arial" panose="020B0604020202020204" pitchFamily="34" charset="0"/>
              <a:buChar char="•"/>
            </a:pPr>
            <a:r>
              <a:rPr lang="en-US" dirty="0"/>
              <a:t>Mono channel audio used and ensured ASR compatibility</a:t>
            </a:r>
            <a:endParaRPr lang="en-IN" dirty="0"/>
          </a:p>
        </p:txBody>
      </p:sp>
      <p:sp>
        <p:nvSpPr>
          <p:cNvPr id="33" name="TextBox 32">
            <a:extLst>
              <a:ext uri="{FF2B5EF4-FFF2-40B4-BE49-F238E27FC236}">
                <a16:creationId xmlns:a16="http://schemas.microsoft.com/office/drawing/2014/main" id="{FBE27C9F-B111-8385-3DA1-F5EC5D6AB76E}"/>
              </a:ext>
            </a:extLst>
          </p:cNvPr>
          <p:cNvSpPr txBox="1"/>
          <p:nvPr/>
        </p:nvSpPr>
        <p:spPr>
          <a:xfrm>
            <a:off x="1086485" y="4561836"/>
            <a:ext cx="2118360" cy="400110"/>
          </a:xfrm>
          <a:prstGeom prst="rect">
            <a:avLst/>
          </a:prstGeom>
          <a:noFill/>
        </p:spPr>
        <p:txBody>
          <a:bodyPr wrap="square" rtlCol="0">
            <a:spAutoFit/>
          </a:bodyPr>
          <a:lstStyle/>
          <a:p>
            <a:r>
              <a:rPr lang="en-US" sz="2000" b="1" u="sng" dirty="0">
                <a:latin typeface="Century" panose="02040604050505020304" pitchFamily="18" charset="0"/>
              </a:rPr>
              <a:t>Preprocessing</a:t>
            </a:r>
            <a:endParaRPr lang="en-IN" sz="2000" b="1" u="sng" dirty="0">
              <a:latin typeface="Century" panose="02040604050505020304" pitchFamily="18" charset="0"/>
            </a:endParaRPr>
          </a:p>
        </p:txBody>
      </p:sp>
      <p:sp>
        <p:nvSpPr>
          <p:cNvPr id="34" name="TextBox 33">
            <a:extLst>
              <a:ext uri="{FF2B5EF4-FFF2-40B4-BE49-F238E27FC236}">
                <a16:creationId xmlns:a16="http://schemas.microsoft.com/office/drawing/2014/main" id="{48C9862B-2145-887D-7BE7-EC52921B82AB}"/>
              </a:ext>
            </a:extLst>
          </p:cNvPr>
          <p:cNvSpPr txBox="1"/>
          <p:nvPr/>
        </p:nvSpPr>
        <p:spPr>
          <a:xfrm>
            <a:off x="1188720" y="4997502"/>
            <a:ext cx="398272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Volume normalization applied </a:t>
            </a:r>
          </a:p>
          <a:p>
            <a:pPr marL="285750" indent="-285750">
              <a:buFont typeface="Arial" panose="020B0604020202020204" pitchFamily="34" charset="0"/>
              <a:buChar char="•"/>
            </a:pPr>
            <a:r>
              <a:rPr lang="en-US" dirty="0"/>
              <a:t>Silence segments trimmed </a:t>
            </a:r>
          </a:p>
          <a:p>
            <a:pPr marL="285750" indent="-285750">
              <a:buFont typeface="Arial" panose="020B0604020202020204" pitchFamily="34" charset="0"/>
              <a:buChar char="•"/>
            </a:pPr>
            <a:r>
              <a:rPr lang="en-US" dirty="0"/>
              <a:t>Noise reduced where possible</a:t>
            </a:r>
          </a:p>
          <a:p>
            <a:pPr marL="285750" indent="-285750">
              <a:buFont typeface="Arial" panose="020B0604020202020204" pitchFamily="34" charset="0"/>
              <a:buChar char="•"/>
            </a:pPr>
            <a:r>
              <a:rPr lang="en-US" dirty="0"/>
              <a:t> Audio split into chunks</a:t>
            </a:r>
          </a:p>
          <a:p>
            <a:pPr marL="285750" indent="-285750">
              <a:buFont typeface="Arial" panose="020B0604020202020204" pitchFamily="34" charset="0"/>
              <a:buChar char="•"/>
            </a:pPr>
            <a:r>
              <a:rPr lang="en-US" dirty="0"/>
              <a:t> Prepared for transcription</a:t>
            </a:r>
            <a:endParaRPr lang="en-IN" dirty="0"/>
          </a:p>
        </p:txBody>
      </p:sp>
      <p:sp>
        <p:nvSpPr>
          <p:cNvPr id="35" name="TextBox 34">
            <a:extLst>
              <a:ext uri="{FF2B5EF4-FFF2-40B4-BE49-F238E27FC236}">
                <a16:creationId xmlns:a16="http://schemas.microsoft.com/office/drawing/2014/main" id="{A4B5AB7F-4148-3B60-E0DE-08A382985A6C}"/>
              </a:ext>
            </a:extLst>
          </p:cNvPr>
          <p:cNvSpPr txBox="1"/>
          <p:nvPr/>
        </p:nvSpPr>
        <p:spPr>
          <a:xfrm>
            <a:off x="7013575" y="4589175"/>
            <a:ext cx="2234565" cy="400110"/>
          </a:xfrm>
          <a:prstGeom prst="rect">
            <a:avLst/>
          </a:prstGeom>
          <a:noFill/>
        </p:spPr>
        <p:txBody>
          <a:bodyPr wrap="square" rtlCol="0">
            <a:spAutoFit/>
          </a:bodyPr>
          <a:lstStyle/>
          <a:p>
            <a:r>
              <a:rPr lang="en-US" sz="2000" b="1" u="sng" dirty="0">
                <a:latin typeface="Century" panose="02040604050505020304" pitchFamily="18" charset="0"/>
              </a:rPr>
              <a:t>Final Dataset</a:t>
            </a:r>
            <a:endParaRPr lang="en-IN" sz="2000" b="1" u="sng" dirty="0">
              <a:latin typeface="Century" panose="02040604050505020304" pitchFamily="18" charset="0"/>
            </a:endParaRPr>
          </a:p>
        </p:txBody>
      </p:sp>
      <p:sp>
        <p:nvSpPr>
          <p:cNvPr id="36" name="TextBox 35">
            <a:extLst>
              <a:ext uri="{FF2B5EF4-FFF2-40B4-BE49-F238E27FC236}">
                <a16:creationId xmlns:a16="http://schemas.microsoft.com/office/drawing/2014/main" id="{2F8D3AB1-F2B8-EF72-4C00-8ED135BB5BA4}"/>
              </a:ext>
            </a:extLst>
          </p:cNvPr>
          <p:cNvSpPr txBox="1"/>
          <p:nvPr/>
        </p:nvSpPr>
        <p:spPr>
          <a:xfrm>
            <a:off x="7061200" y="4997502"/>
            <a:ext cx="4297680" cy="1477328"/>
          </a:xfrm>
          <a:prstGeom prst="rect">
            <a:avLst/>
          </a:prstGeom>
          <a:noFill/>
        </p:spPr>
        <p:txBody>
          <a:bodyPr wrap="square" rtlCol="0">
            <a:spAutoFit/>
          </a:bodyPr>
          <a:lstStyle/>
          <a:p>
            <a:pPr marL="285750" indent="-285750">
              <a:buFont typeface="Arial" panose="020B0604020202020204" pitchFamily="34" charset="0"/>
              <a:buChar char="•"/>
            </a:pPr>
            <a:r>
              <a:rPr lang="en-US" dirty="0"/>
              <a:t>10 podcast recordings processed</a:t>
            </a:r>
          </a:p>
          <a:p>
            <a:pPr marL="285750" indent="-285750">
              <a:buFont typeface="Arial" panose="020B0604020202020204" pitchFamily="34" charset="0"/>
              <a:buChar char="•"/>
            </a:pPr>
            <a:r>
              <a:rPr lang="en-US" dirty="0"/>
              <a:t> Duration: 30–63 minutes each </a:t>
            </a:r>
          </a:p>
          <a:p>
            <a:pPr marL="285750" indent="-285750">
              <a:buFont typeface="Arial" panose="020B0604020202020204" pitchFamily="34" charset="0"/>
              <a:buChar char="•"/>
            </a:pPr>
            <a:r>
              <a:rPr lang="en-US" dirty="0"/>
              <a:t>Cleaned and standardized audio </a:t>
            </a:r>
          </a:p>
          <a:p>
            <a:pPr marL="285750" indent="-285750">
              <a:buFont typeface="Arial" panose="020B0604020202020204" pitchFamily="34" charset="0"/>
              <a:buChar char="•"/>
            </a:pPr>
            <a:r>
              <a:rPr lang="en-US" dirty="0"/>
              <a:t>Ready for NLP pipeline input</a:t>
            </a:r>
          </a:p>
          <a:p>
            <a:pPr marL="285750" indent="-285750">
              <a:buFont typeface="Arial" panose="020B0604020202020204" pitchFamily="34" charset="0"/>
              <a:buChar char="•"/>
            </a:pPr>
            <a:r>
              <a:rPr lang="en-US" dirty="0"/>
              <a:t> Supports segmentation tasks</a:t>
            </a:r>
            <a:endParaRPr lang="en-IN" dirty="0"/>
          </a:p>
        </p:txBody>
      </p:sp>
    </p:spTree>
    <p:extLst>
      <p:ext uri="{BB962C8B-B14F-4D97-AF65-F5344CB8AC3E}">
        <p14:creationId xmlns:p14="http://schemas.microsoft.com/office/powerpoint/2010/main" val="3268753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FC41E98-8CAB-3865-E028-09237C8812CE}"/>
              </a:ext>
            </a:extLst>
          </p:cNvPr>
          <p:cNvGrpSpPr/>
          <p:nvPr/>
        </p:nvGrpSpPr>
        <p:grpSpPr>
          <a:xfrm>
            <a:off x="101600" y="111760"/>
            <a:ext cx="11988800" cy="6654800"/>
            <a:chOff x="101600" y="111760"/>
            <a:chExt cx="11988800" cy="6654800"/>
          </a:xfrm>
        </p:grpSpPr>
        <p:sp>
          <p:nvSpPr>
            <p:cNvPr id="2" name="Rectangle 1">
              <a:extLst>
                <a:ext uri="{FF2B5EF4-FFF2-40B4-BE49-F238E27FC236}">
                  <a16:creationId xmlns:a16="http://schemas.microsoft.com/office/drawing/2014/main" id="{E8A20D87-B455-62B7-01EB-0AEAF9183CD7}"/>
                </a:ext>
              </a:extLst>
            </p:cNvPr>
            <p:cNvSpPr/>
            <p:nvPr/>
          </p:nvSpPr>
          <p:spPr>
            <a:xfrm>
              <a:off x="101600" y="111760"/>
              <a:ext cx="11988800" cy="665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0AE8DA70-3F33-C1C1-E552-E07FDFEFE411}"/>
                </a:ext>
              </a:extLst>
            </p:cNvPr>
            <p:cNvSpPr/>
            <p:nvPr/>
          </p:nvSpPr>
          <p:spPr>
            <a:xfrm>
              <a:off x="182880" y="193040"/>
              <a:ext cx="11836400" cy="64922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grpSp>
      <p:sp>
        <p:nvSpPr>
          <p:cNvPr id="5" name="Frame 4">
            <a:extLst>
              <a:ext uri="{FF2B5EF4-FFF2-40B4-BE49-F238E27FC236}">
                <a16:creationId xmlns:a16="http://schemas.microsoft.com/office/drawing/2014/main" id="{B8809DC6-D50D-D5A6-9917-612AACE8740A}"/>
              </a:ext>
            </a:extLst>
          </p:cNvPr>
          <p:cNvSpPr/>
          <p:nvPr/>
        </p:nvSpPr>
        <p:spPr>
          <a:xfrm>
            <a:off x="4135120" y="325120"/>
            <a:ext cx="4384040" cy="741680"/>
          </a:xfrm>
          <a:prstGeom prst="frame">
            <a:avLst>
              <a:gd name="adj1" fmla="val 0"/>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b="1" dirty="0">
                <a:solidFill>
                  <a:schemeClr val="tx1"/>
                </a:solidFill>
                <a:latin typeface="Algerian" panose="04020705040A02060702" pitchFamily="82" charset="0"/>
              </a:rPr>
              <a:t>SYSTEM ARCHITECTURE</a:t>
            </a:r>
            <a:endParaRPr lang="en-IN" sz="2400" b="1" dirty="0">
              <a:solidFill>
                <a:schemeClr val="tx1"/>
              </a:solidFill>
              <a:latin typeface="Algerian" panose="04020705040A02060702" pitchFamily="82" charset="0"/>
            </a:endParaRPr>
          </a:p>
        </p:txBody>
      </p:sp>
      <p:pic>
        <p:nvPicPr>
          <p:cNvPr id="2054" name="Picture 6">
            <a:extLst>
              <a:ext uri="{FF2B5EF4-FFF2-40B4-BE49-F238E27FC236}">
                <a16:creationId xmlns:a16="http://schemas.microsoft.com/office/drawing/2014/main" id="{11990466-E0C1-9C2C-C07D-86BA9848EE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745" y="1198880"/>
            <a:ext cx="6518910" cy="546608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2EDC613-0B1A-2BEC-7743-13F90BCE4C89}"/>
              </a:ext>
            </a:extLst>
          </p:cNvPr>
          <p:cNvSpPr/>
          <p:nvPr/>
        </p:nvSpPr>
        <p:spPr>
          <a:xfrm>
            <a:off x="5262880" y="6268720"/>
            <a:ext cx="1391920" cy="2641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E33F0913-F140-5C3F-527F-A1671B1DA175}"/>
              </a:ext>
            </a:extLst>
          </p:cNvPr>
          <p:cNvCxnSpPr/>
          <p:nvPr/>
        </p:nvCxnSpPr>
        <p:spPr>
          <a:xfrm>
            <a:off x="3545840" y="237744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D0AA15F-DF0F-C12A-3056-A9CF3E16209A}"/>
              </a:ext>
            </a:extLst>
          </p:cNvPr>
          <p:cNvCxnSpPr/>
          <p:nvPr/>
        </p:nvCxnSpPr>
        <p:spPr>
          <a:xfrm>
            <a:off x="3078480" y="276352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AE9A2E7-2D15-DF49-3694-54B0B2859BAE}"/>
              </a:ext>
            </a:extLst>
          </p:cNvPr>
          <p:cNvCxnSpPr/>
          <p:nvPr/>
        </p:nvCxnSpPr>
        <p:spPr>
          <a:xfrm>
            <a:off x="3545840" y="315976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10464C-B1F0-B3E0-CB10-61CEA312931B}"/>
              </a:ext>
            </a:extLst>
          </p:cNvPr>
          <p:cNvCxnSpPr/>
          <p:nvPr/>
        </p:nvCxnSpPr>
        <p:spPr>
          <a:xfrm>
            <a:off x="3078480" y="353568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D353E0C-A78F-991E-A89E-BF284F00C20C}"/>
              </a:ext>
            </a:extLst>
          </p:cNvPr>
          <p:cNvCxnSpPr/>
          <p:nvPr/>
        </p:nvCxnSpPr>
        <p:spPr>
          <a:xfrm>
            <a:off x="3545840" y="393192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73660EE-6451-3F7E-35CA-F2C313EBD00B}"/>
              </a:ext>
            </a:extLst>
          </p:cNvPr>
          <p:cNvCxnSpPr/>
          <p:nvPr/>
        </p:nvCxnSpPr>
        <p:spPr>
          <a:xfrm>
            <a:off x="3078480" y="431800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D564B0A-5170-0057-8D6C-3909FA3AEE89}"/>
              </a:ext>
            </a:extLst>
          </p:cNvPr>
          <p:cNvCxnSpPr/>
          <p:nvPr/>
        </p:nvCxnSpPr>
        <p:spPr>
          <a:xfrm>
            <a:off x="3545840" y="470408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BB9DA0F-3F40-3805-065B-02C192E61688}"/>
              </a:ext>
            </a:extLst>
          </p:cNvPr>
          <p:cNvCxnSpPr/>
          <p:nvPr/>
        </p:nvCxnSpPr>
        <p:spPr>
          <a:xfrm>
            <a:off x="3037840" y="5069840"/>
            <a:ext cx="4673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41C0924-E4A3-89B5-328C-0EBFBF425635}"/>
              </a:ext>
            </a:extLst>
          </p:cNvPr>
          <p:cNvCxnSpPr/>
          <p:nvPr/>
        </p:nvCxnSpPr>
        <p:spPr>
          <a:xfrm>
            <a:off x="3545840" y="5455920"/>
            <a:ext cx="467360" cy="0"/>
          </a:xfrm>
          <a:prstGeom prst="line">
            <a:avLst/>
          </a:prstGeom>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AE516920-0F31-312F-36E4-78C044011A24}"/>
              </a:ext>
            </a:extLst>
          </p:cNvPr>
          <p:cNvSpPr/>
          <p:nvPr/>
        </p:nvSpPr>
        <p:spPr>
          <a:xfrm>
            <a:off x="6555105" y="1361442"/>
            <a:ext cx="5263198" cy="5079995"/>
          </a:xfrm>
          <a:prstGeom prst="rect">
            <a:avLst/>
          </a:prstGeom>
          <a:effectLst>
            <a:outerShdw blurRad="50800" dist="38100" dir="8100000" algn="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B39D5A2D-06C2-DC6E-B339-38E2B659EB9F}"/>
              </a:ext>
            </a:extLst>
          </p:cNvPr>
          <p:cNvCxnSpPr/>
          <p:nvPr/>
        </p:nvCxnSpPr>
        <p:spPr>
          <a:xfrm>
            <a:off x="3037840" y="5842000"/>
            <a:ext cx="467360"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AE3164F-3F0C-5BA8-59E3-0402806F5314}"/>
              </a:ext>
            </a:extLst>
          </p:cNvPr>
          <p:cNvSpPr txBox="1"/>
          <p:nvPr/>
        </p:nvSpPr>
        <p:spPr>
          <a:xfrm>
            <a:off x="6555105" y="1526330"/>
            <a:ext cx="5238750" cy="400110"/>
          </a:xfrm>
          <a:prstGeom prst="rect">
            <a:avLst/>
          </a:prstGeom>
          <a:noFill/>
        </p:spPr>
        <p:txBody>
          <a:bodyPr wrap="square" rtlCol="0">
            <a:spAutoFit/>
          </a:bodyPr>
          <a:lstStyle/>
          <a:p>
            <a:r>
              <a:rPr lang="en-US" sz="2000" b="1" u="sng" dirty="0">
                <a:latin typeface="Century" panose="02040604050505020304" pitchFamily="18" charset="0"/>
              </a:rPr>
              <a:t>Pipeline Explanation</a:t>
            </a:r>
            <a:endParaRPr lang="en-IN" sz="2000" b="1" u="sng" dirty="0">
              <a:latin typeface="Century" panose="02040604050505020304" pitchFamily="18" charset="0"/>
            </a:endParaRPr>
          </a:p>
        </p:txBody>
      </p:sp>
      <p:sp>
        <p:nvSpPr>
          <p:cNvPr id="26" name="TextBox 25">
            <a:extLst>
              <a:ext uri="{FF2B5EF4-FFF2-40B4-BE49-F238E27FC236}">
                <a16:creationId xmlns:a16="http://schemas.microsoft.com/office/drawing/2014/main" id="{10FB7569-FBDD-64B8-077F-3E513C1DF0B5}"/>
              </a:ext>
            </a:extLst>
          </p:cNvPr>
          <p:cNvSpPr txBox="1"/>
          <p:nvPr/>
        </p:nvSpPr>
        <p:spPr>
          <a:xfrm>
            <a:off x="6654800" y="1957762"/>
            <a:ext cx="5126990" cy="4524315"/>
          </a:xfrm>
          <a:prstGeom prst="rect">
            <a:avLst/>
          </a:prstGeom>
          <a:noFill/>
        </p:spPr>
        <p:txBody>
          <a:bodyPr wrap="square" rtlCol="0">
            <a:spAutoFit/>
          </a:bodyPr>
          <a:lstStyle/>
          <a:p>
            <a:r>
              <a:rPr lang="en-US" dirty="0"/>
              <a:t>• Audio Input — Raw podcast audio collected , serves as the starting point of the processing pipeline.</a:t>
            </a:r>
          </a:p>
          <a:p>
            <a:r>
              <a:rPr lang="en-US" dirty="0"/>
              <a:t>• Preprocessing — Cleaned, normalized, converts format and mono channel if required , and splits long audio into chunks.</a:t>
            </a:r>
          </a:p>
          <a:p>
            <a:r>
              <a:rPr lang="en-US" dirty="0"/>
              <a:t>• Transcription — Speech converted into timestamped text using ASR Model.</a:t>
            </a:r>
          </a:p>
          <a:p>
            <a:r>
              <a:rPr lang="en-US" dirty="0"/>
              <a:t>• Segmentation — Sentences grouped into meaningful topics ,Semantic embeddings generated.</a:t>
            </a:r>
          </a:p>
          <a:p>
            <a:r>
              <a:rPr lang="en-US" dirty="0"/>
              <a:t>• Keywords — Key terms extracted from each segment.</a:t>
            </a:r>
          </a:p>
          <a:p>
            <a:r>
              <a:rPr lang="en-US" dirty="0"/>
              <a:t>• Summaries — Concise segment summaries </a:t>
            </a:r>
          </a:p>
          <a:p>
            <a:r>
              <a:rPr lang="en-US" dirty="0"/>
              <a:t>• Sentiment — Tone detected </a:t>
            </a:r>
          </a:p>
          <a:p>
            <a:r>
              <a:rPr lang="en-US" dirty="0"/>
              <a:t>• Output — Structured results generated , results are organized for easy navigation.</a:t>
            </a:r>
          </a:p>
        </p:txBody>
      </p:sp>
    </p:spTree>
    <p:extLst>
      <p:ext uri="{BB962C8B-B14F-4D97-AF65-F5344CB8AC3E}">
        <p14:creationId xmlns:p14="http://schemas.microsoft.com/office/powerpoint/2010/main" val="3548947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26A932-64CE-A274-296B-BF5AD2ABA209}"/>
              </a:ext>
            </a:extLst>
          </p:cNvPr>
          <p:cNvSpPr/>
          <p:nvPr/>
        </p:nvSpPr>
        <p:spPr>
          <a:xfrm>
            <a:off x="0" y="0"/>
            <a:ext cx="12192000" cy="6858000"/>
          </a:xfrm>
          <a:prstGeom prst="rect">
            <a:avLst/>
          </a:prstGeom>
          <a:solidFill>
            <a:srgbClr val="8FD2F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Frame 2">
            <a:extLst>
              <a:ext uri="{FF2B5EF4-FFF2-40B4-BE49-F238E27FC236}">
                <a16:creationId xmlns:a16="http://schemas.microsoft.com/office/drawing/2014/main" id="{F5CC5FAE-6937-7B97-CB63-5D53D87C5ED1}"/>
              </a:ext>
            </a:extLst>
          </p:cNvPr>
          <p:cNvSpPr/>
          <p:nvPr/>
        </p:nvSpPr>
        <p:spPr>
          <a:xfrm>
            <a:off x="4246880" y="152400"/>
            <a:ext cx="3759200" cy="843280"/>
          </a:xfrm>
          <a:prstGeom prst="frame">
            <a:avLst>
              <a:gd name="adj1" fmla="val 7181"/>
            </a:avLst>
          </a:prstGeo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u="sng" dirty="0">
                <a:solidFill>
                  <a:schemeClr val="tx1"/>
                </a:solidFill>
                <a:latin typeface="Algerian" panose="04020705040A02060702" pitchFamily="82" charset="0"/>
              </a:rPr>
              <a:t>TOOLS &amp; LIBRARIES</a:t>
            </a:r>
            <a:endParaRPr lang="en-IN" sz="2400" b="1" u="sng" dirty="0">
              <a:solidFill>
                <a:schemeClr val="tx1"/>
              </a:solidFill>
              <a:latin typeface="Algerian" panose="04020705040A02060702" pitchFamily="82" charset="0"/>
            </a:endParaRPr>
          </a:p>
        </p:txBody>
      </p:sp>
      <p:sp>
        <p:nvSpPr>
          <p:cNvPr id="4" name="Rectangle 3">
            <a:extLst>
              <a:ext uri="{FF2B5EF4-FFF2-40B4-BE49-F238E27FC236}">
                <a16:creationId xmlns:a16="http://schemas.microsoft.com/office/drawing/2014/main" id="{92D03CDA-9A7B-8DCF-7AF2-402B24C60D14}"/>
              </a:ext>
            </a:extLst>
          </p:cNvPr>
          <p:cNvSpPr/>
          <p:nvPr/>
        </p:nvSpPr>
        <p:spPr>
          <a:xfrm>
            <a:off x="365760" y="1244600"/>
            <a:ext cx="11460480" cy="536448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 name="Rectangle 5">
            <a:extLst>
              <a:ext uri="{FF2B5EF4-FFF2-40B4-BE49-F238E27FC236}">
                <a16:creationId xmlns:a16="http://schemas.microsoft.com/office/drawing/2014/main" id="{55F5D60A-F7D6-6A6A-3DCD-FD382D9BDE69}"/>
              </a:ext>
            </a:extLst>
          </p:cNvPr>
          <p:cNvSpPr/>
          <p:nvPr/>
        </p:nvSpPr>
        <p:spPr>
          <a:xfrm>
            <a:off x="619760" y="1478280"/>
            <a:ext cx="4836160" cy="24485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7" name="Rectangle 6">
            <a:extLst>
              <a:ext uri="{FF2B5EF4-FFF2-40B4-BE49-F238E27FC236}">
                <a16:creationId xmlns:a16="http://schemas.microsoft.com/office/drawing/2014/main" id="{C0CACDB2-A8F6-9B48-AA42-E49E5503D776}"/>
              </a:ext>
            </a:extLst>
          </p:cNvPr>
          <p:cNvSpPr/>
          <p:nvPr/>
        </p:nvSpPr>
        <p:spPr>
          <a:xfrm>
            <a:off x="6370320" y="1478280"/>
            <a:ext cx="4836160" cy="24485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8" name="Rectangle 7">
            <a:extLst>
              <a:ext uri="{FF2B5EF4-FFF2-40B4-BE49-F238E27FC236}">
                <a16:creationId xmlns:a16="http://schemas.microsoft.com/office/drawing/2014/main" id="{9F134BF1-5112-46DF-0032-1D4CCF915DFE}"/>
              </a:ext>
            </a:extLst>
          </p:cNvPr>
          <p:cNvSpPr/>
          <p:nvPr/>
        </p:nvSpPr>
        <p:spPr>
          <a:xfrm>
            <a:off x="619760" y="4043680"/>
            <a:ext cx="4836160" cy="24485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6643FA4F-06B4-4DBD-A997-238642CBC11E}"/>
              </a:ext>
            </a:extLst>
          </p:cNvPr>
          <p:cNvSpPr/>
          <p:nvPr/>
        </p:nvSpPr>
        <p:spPr>
          <a:xfrm>
            <a:off x="6370320" y="4043680"/>
            <a:ext cx="4836160" cy="244856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10" name="TextBox 9">
            <a:extLst>
              <a:ext uri="{FF2B5EF4-FFF2-40B4-BE49-F238E27FC236}">
                <a16:creationId xmlns:a16="http://schemas.microsoft.com/office/drawing/2014/main" id="{151D9EE0-D28B-6E67-C390-CA2F0ABF52B4}"/>
              </a:ext>
            </a:extLst>
          </p:cNvPr>
          <p:cNvSpPr txBox="1"/>
          <p:nvPr/>
        </p:nvSpPr>
        <p:spPr>
          <a:xfrm>
            <a:off x="721360" y="1478280"/>
            <a:ext cx="4409440" cy="400110"/>
          </a:xfrm>
          <a:prstGeom prst="rect">
            <a:avLst/>
          </a:prstGeom>
          <a:noFill/>
        </p:spPr>
        <p:txBody>
          <a:bodyPr wrap="square" rtlCol="0">
            <a:spAutoFit/>
          </a:bodyPr>
          <a:lstStyle/>
          <a:p>
            <a:r>
              <a:rPr lang="en-US" sz="2000" b="1" u="sng" dirty="0">
                <a:latin typeface="Century" panose="02040604050505020304" pitchFamily="18" charset="0"/>
              </a:rPr>
              <a:t>Audio Processing</a:t>
            </a:r>
            <a:endParaRPr lang="en-IN" sz="2000" b="1" u="sng" dirty="0">
              <a:latin typeface="Century" panose="02040604050505020304" pitchFamily="18" charset="0"/>
            </a:endParaRPr>
          </a:p>
        </p:txBody>
      </p:sp>
      <p:sp>
        <p:nvSpPr>
          <p:cNvPr id="11" name="TextBox 10">
            <a:extLst>
              <a:ext uri="{FF2B5EF4-FFF2-40B4-BE49-F238E27FC236}">
                <a16:creationId xmlns:a16="http://schemas.microsoft.com/office/drawing/2014/main" id="{49C65370-11D4-92BC-AA5A-9BD80D969BE3}"/>
              </a:ext>
            </a:extLst>
          </p:cNvPr>
          <p:cNvSpPr txBox="1"/>
          <p:nvPr/>
        </p:nvSpPr>
        <p:spPr>
          <a:xfrm>
            <a:off x="6492240" y="1478280"/>
            <a:ext cx="2834640" cy="400110"/>
          </a:xfrm>
          <a:prstGeom prst="rect">
            <a:avLst/>
          </a:prstGeom>
          <a:noFill/>
        </p:spPr>
        <p:txBody>
          <a:bodyPr wrap="square" rtlCol="0">
            <a:spAutoFit/>
          </a:bodyPr>
          <a:lstStyle/>
          <a:p>
            <a:r>
              <a:rPr lang="en-US" sz="2000" b="1" u="sng" dirty="0">
                <a:latin typeface="Century" panose="02040604050505020304" pitchFamily="18" charset="0"/>
              </a:rPr>
              <a:t>Speech - to - Text </a:t>
            </a:r>
            <a:endParaRPr lang="en-IN" sz="2000" b="1" u="sng" dirty="0">
              <a:latin typeface="Century" panose="02040604050505020304" pitchFamily="18" charset="0"/>
            </a:endParaRPr>
          </a:p>
        </p:txBody>
      </p:sp>
      <p:sp>
        <p:nvSpPr>
          <p:cNvPr id="12" name="TextBox 11">
            <a:extLst>
              <a:ext uri="{FF2B5EF4-FFF2-40B4-BE49-F238E27FC236}">
                <a16:creationId xmlns:a16="http://schemas.microsoft.com/office/drawing/2014/main" id="{112E3CF1-ED56-65A2-E84B-43173331F2BF}"/>
              </a:ext>
            </a:extLst>
          </p:cNvPr>
          <p:cNvSpPr txBox="1"/>
          <p:nvPr/>
        </p:nvSpPr>
        <p:spPr>
          <a:xfrm>
            <a:off x="782320" y="4084320"/>
            <a:ext cx="3281680" cy="400110"/>
          </a:xfrm>
          <a:prstGeom prst="rect">
            <a:avLst/>
          </a:prstGeom>
          <a:noFill/>
        </p:spPr>
        <p:txBody>
          <a:bodyPr wrap="square" rtlCol="0">
            <a:spAutoFit/>
          </a:bodyPr>
          <a:lstStyle/>
          <a:p>
            <a:r>
              <a:rPr lang="en-US" sz="2000" b="1" u="sng" dirty="0">
                <a:latin typeface="Century" panose="02040604050505020304" pitchFamily="18" charset="0"/>
              </a:rPr>
              <a:t>NLP &amp; Analysis</a:t>
            </a:r>
            <a:endParaRPr lang="en-IN" sz="2000" b="1" u="sng" dirty="0">
              <a:latin typeface="Century" panose="02040604050505020304" pitchFamily="18" charset="0"/>
            </a:endParaRPr>
          </a:p>
        </p:txBody>
      </p:sp>
      <p:sp>
        <p:nvSpPr>
          <p:cNvPr id="13" name="TextBox 12">
            <a:extLst>
              <a:ext uri="{FF2B5EF4-FFF2-40B4-BE49-F238E27FC236}">
                <a16:creationId xmlns:a16="http://schemas.microsoft.com/office/drawing/2014/main" id="{A0E301DF-4FF5-C0DA-B594-AA1681A95BD5}"/>
              </a:ext>
            </a:extLst>
          </p:cNvPr>
          <p:cNvSpPr txBox="1"/>
          <p:nvPr/>
        </p:nvSpPr>
        <p:spPr>
          <a:xfrm>
            <a:off x="6492240" y="4084320"/>
            <a:ext cx="2438400" cy="400110"/>
          </a:xfrm>
          <a:prstGeom prst="rect">
            <a:avLst/>
          </a:prstGeom>
          <a:noFill/>
        </p:spPr>
        <p:txBody>
          <a:bodyPr wrap="square" rtlCol="0">
            <a:spAutoFit/>
          </a:bodyPr>
          <a:lstStyle/>
          <a:p>
            <a:r>
              <a:rPr lang="en-US" sz="2000" b="1" u="sng" dirty="0">
                <a:latin typeface="Century" panose="02040604050505020304" pitchFamily="18" charset="0"/>
              </a:rPr>
              <a:t>Visualization / UI</a:t>
            </a:r>
            <a:endParaRPr lang="en-IN" sz="2000" b="1" u="sng" dirty="0">
              <a:latin typeface="Century" panose="02040604050505020304" pitchFamily="18" charset="0"/>
            </a:endParaRPr>
          </a:p>
        </p:txBody>
      </p:sp>
      <p:sp>
        <p:nvSpPr>
          <p:cNvPr id="15" name="TextBox 14">
            <a:extLst>
              <a:ext uri="{FF2B5EF4-FFF2-40B4-BE49-F238E27FC236}">
                <a16:creationId xmlns:a16="http://schemas.microsoft.com/office/drawing/2014/main" id="{42CA444E-324A-4099-A618-09B7ED5964A8}"/>
              </a:ext>
            </a:extLst>
          </p:cNvPr>
          <p:cNvSpPr txBox="1"/>
          <p:nvPr/>
        </p:nvSpPr>
        <p:spPr>
          <a:xfrm>
            <a:off x="721360" y="1950720"/>
            <a:ext cx="4602480" cy="1754326"/>
          </a:xfrm>
          <a:prstGeom prst="rect">
            <a:avLst/>
          </a:prstGeom>
          <a:noFill/>
        </p:spPr>
        <p:txBody>
          <a:bodyPr wrap="square" rtlCol="0">
            <a:spAutoFit/>
          </a:bodyPr>
          <a:lstStyle/>
          <a:p>
            <a:pPr marL="285750" indent="-285750">
              <a:buFont typeface="Arial" panose="020B0604020202020204" pitchFamily="34" charset="0"/>
              <a:buChar char="•"/>
            </a:pPr>
            <a:r>
              <a:rPr lang="en-IN" b="1" dirty="0" err="1"/>
              <a:t>LibROSA</a:t>
            </a:r>
            <a:r>
              <a:rPr lang="en-IN" b="1" dirty="0"/>
              <a:t> </a:t>
            </a:r>
            <a:r>
              <a:rPr lang="en-IN" dirty="0"/>
              <a:t>– Used to load audio files, </a:t>
            </a:r>
            <a:r>
              <a:rPr lang="en-IN" dirty="0" err="1"/>
              <a:t>analyze</a:t>
            </a:r>
            <a:r>
              <a:rPr lang="en-IN" dirty="0"/>
              <a:t> waveform signals.</a:t>
            </a:r>
          </a:p>
          <a:p>
            <a:pPr marL="285750" indent="-285750">
              <a:buFont typeface="Arial" panose="020B0604020202020204" pitchFamily="34" charset="0"/>
              <a:buChar char="•"/>
            </a:pPr>
            <a:r>
              <a:rPr lang="en-IN" dirty="0"/>
              <a:t> </a:t>
            </a:r>
            <a:r>
              <a:rPr lang="en-IN" b="1" dirty="0" err="1"/>
              <a:t>PyDub</a:t>
            </a:r>
            <a:r>
              <a:rPr lang="en-IN" dirty="0"/>
              <a:t> – Used for format conversion, normalization, and splitting long audio into smaller chunks for efficient processing. </a:t>
            </a:r>
          </a:p>
          <a:p>
            <a:pPr marL="285750" indent="-285750">
              <a:buFont typeface="Arial" panose="020B0604020202020204" pitchFamily="34" charset="0"/>
              <a:buChar char="•"/>
            </a:pPr>
            <a:r>
              <a:rPr lang="en-IN" b="1" i="1" dirty="0"/>
              <a:t>Tech Stack</a:t>
            </a:r>
            <a:r>
              <a:rPr lang="en-IN" dirty="0"/>
              <a:t>: Python · Signal Processing</a:t>
            </a:r>
          </a:p>
        </p:txBody>
      </p:sp>
      <p:sp>
        <p:nvSpPr>
          <p:cNvPr id="16" name="TextBox 15">
            <a:extLst>
              <a:ext uri="{FF2B5EF4-FFF2-40B4-BE49-F238E27FC236}">
                <a16:creationId xmlns:a16="http://schemas.microsoft.com/office/drawing/2014/main" id="{C2CFB7D1-5D40-FDC5-E2F8-235400558375}"/>
              </a:ext>
            </a:extLst>
          </p:cNvPr>
          <p:cNvSpPr txBox="1"/>
          <p:nvPr/>
        </p:nvSpPr>
        <p:spPr>
          <a:xfrm>
            <a:off x="6543040" y="2118727"/>
            <a:ext cx="4490720" cy="1200329"/>
          </a:xfrm>
          <a:prstGeom prst="rect">
            <a:avLst/>
          </a:prstGeom>
          <a:noFill/>
        </p:spPr>
        <p:txBody>
          <a:bodyPr wrap="square" rtlCol="0">
            <a:spAutoFit/>
          </a:bodyPr>
          <a:lstStyle/>
          <a:p>
            <a:pPr marL="285750" indent="-285750">
              <a:buFont typeface="Arial" panose="020B0604020202020204" pitchFamily="34" charset="0"/>
              <a:buChar char="•"/>
            </a:pPr>
            <a:r>
              <a:rPr lang="en-US" b="1" dirty="0"/>
              <a:t>Whisper </a:t>
            </a:r>
            <a:r>
              <a:rPr lang="en-US" dirty="0"/>
              <a:t>– Converts spoken audio into text while preserving timestamps and handling accents, pauses, and speech variations. </a:t>
            </a:r>
          </a:p>
          <a:p>
            <a:pPr marL="285750" indent="-285750">
              <a:buFont typeface="Arial" panose="020B0604020202020204" pitchFamily="34" charset="0"/>
              <a:buChar char="•"/>
            </a:pPr>
            <a:r>
              <a:rPr lang="en-US" b="1" i="1" dirty="0"/>
              <a:t>Tech Stack</a:t>
            </a:r>
            <a:r>
              <a:rPr lang="en-US" dirty="0"/>
              <a:t>: Python · Deep Learning</a:t>
            </a:r>
            <a:endParaRPr lang="en-IN" dirty="0"/>
          </a:p>
        </p:txBody>
      </p:sp>
      <p:sp>
        <p:nvSpPr>
          <p:cNvPr id="17" name="TextBox 16">
            <a:extLst>
              <a:ext uri="{FF2B5EF4-FFF2-40B4-BE49-F238E27FC236}">
                <a16:creationId xmlns:a16="http://schemas.microsoft.com/office/drawing/2014/main" id="{8D13A0E2-816D-700A-09E2-6D2716ADA48E}"/>
              </a:ext>
            </a:extLst>
          </p:cNvPr>
          <p:cNvSpPr txBox="1"/>
          <p:nvPr/>
        </p:nvSpPr>
        <p:spPr>
          <a:xfrm>
            <a:off x="751840" y="4533623"/>
            <a:ext cx="4389120" cy="2031325"/>
          </a:xfrm>
          <a:prstGeom prst="rect">
            <a:avLst/>
          </a:prstGeom>
          <a:noFill/>
        </p:spPr>
        <p:txBody>
          <a:bodyPr wrap="square" rtlCol="0">
            <a:spAutoFit/>
          </a:bodyPr>
          <a:lstStyle/>
          <a:p>
            <a:pPr marL="285750" indent="-285750">
              <a:buFont typeface="Arial" panose="020B0604020202020204" pitchFamily="34" charset="0"/>
              <a:buChar char="•"/>
            </a:pPr>
            <a:r>
              <a:rPr lang="en-IN" b="1" dirty="0" err="1"/>
              <a:t>SentenceTransformers</a:t>
            </a:r>
            <a:r>
              <a:rPr lang="en-IN" dirty="0"/>
              <a:t> – Generates semantic embeddings for sentences. </a:t>
            </a:r>
          </a:p>
          <a:p>
            <a:pPr marL="285750" indent="-285750">
              <a:buFont typeface="Arial" panose="020B0604020202020204" pitchFamily="34" charset="0"/>
              <a:buChar char="•"/>
            </a:pPr>
            <a:r>
              <a:rPr lang="en-IN" b="1" dirty="0"/>
              <a:t>TF-IDF</a:t>
            </a:r>
            <a:r>
              <a:rPr lang="en-IN" dirty="0"/>
              <a:t> – Extracts important keywords from each segment by identifying statistically significant terms. </a:t>
            </a:r>
          </a:p>
          <a:p>
            <a:pPr marL="285750" indent="-285750">
              <a:buFont typeface="Arial" panose="020B0604020202020204" pitchFamily="34" charset="0"/>
              <a:buChar char="•"/>
            </a:pPr>
            <a:r>
              <a:rPr lang="en-IN" b="1" i="1" dirty="0"/>
              <a:t>Tech Stack</a:t>
            </a:r>
            <a:r>
              <a:rPr lang="en-IN" dirty="0"/>
              <a:t>: Python · NLP · Machine Learning</a:t>
            </a:r>
          </a:p>
        </p:txBody>
      </p:sp>
      <p:sp>
        <p:nvSpPr>
          <p:cNvPr id="18" name="TextBox 17">
            <a:extLst>
              <a:ext uri="{FF2B5EF4-FFF2-40B4-BE49-F238E27FC236}">
                <a16:creationId xmlns:a16="http://schemas.microsoft.com/office/drawing/2014/main" id="{090A5C78-C711-015C-B7F2-562E0526FF1F}"/>
              </a:ext>
            </a:extLst>
          </p:cNvPr>
          <p:cNvSpPr txBox="1"/>
          <p:nvPr/>
        </p:nvSpPr>
        <p:spPr>
          <a:xfrm>
            <a:off x="6543040" y="4533623"/>
            <a:ext cx="4490720" cy="2031325"/>
          </a:xfrm>
          <a:prstGeom prst="rect">
            <a:avLst/>
          </a:prstGeom>
          <a:noFill/>
        </p:spPr>
        <p:txBody>
          <a:bodyPr wrap="square" rtlCol="0">
            <a:spAutoFit/>
          </a:bodyPr>
          <a:lstStyle/>
          <a:p>
            <a:pPr marL="285750" indent="-285750">
              <a:buFont typeface="Arial" panose="020B0604020202020204" pitchFamily="34" charset="0"/>
              <a:buChar char="•"/>
            </a:pPr>
            <a:r>
              <a:rPr lang="en-IN" b="1" dirty="0"/>
              <a:t>HTML + JavaScript </a:t>
            </a:r>
            <a:r>
              <a:rPr lang="en-IN" dirty="0"/>
              <a:t>– Builds interactive interface for segment.</a:t>
            </a:r>
          </a:p>
          <a:p>
            <a:pPr marL="285750" indent="-285750">
              <a:buFont typeface="Arial" panose="020B0604020202020204" pitchFamily="34" charset="0"/>
              <a:buChar char="•"/>
            </a:pPr>
            <a:r>
              <a:rPr lang="en-IN" b="1" dirty="0" err="1"/>
              <a:t>WordCloud</a:t>
            </a:r>
            <a:r>
              <a:rPr lang="en-IN" b="1" dirty="0"/>
              <a:t> </a:t>
            </a:r>
            <a:r>
              <a:rPr lang="en-IN" dirty="0"/>
              <a:t> – Displays keyword frequency patterns visually for quick topic understanding. </a:t>
            </a:r>
          </a:p>
          <a:p>
            <a:pPr marL="285750" indent="-285750">
              <a:buFont typeface="Arial" panose="020B0604020202020204" pitchFamily="34" charset="0"/>
              <a:buChar char="•"/>
            </a:pPr>
            <a:r>
              <a:rPr lang="en-IN" b="1" dirty="0"/>
              <a:t>Tech Stack</a:t>
            </a:r>
            <a:r>
              <a:rPr lang="en-IN" dirty="0"/>
              <a:t>: Frontend Rendering · Data Visualization</a:t>
            </a:r>
          </a:p>
        </p:txBody>
      </p:sp>
    </p:spTree>
    <p:extLst>
      <p:ext uri="{BB962C8B-B14F-4D97-AF65-F5344CB8AC3E}">
        <p14:creationId xmlns:p14="http://schemas.microsoft.com/office/powerpoint/2010/main" val="3258108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F3C2D89-A9C1-2E53-A5B8-6A8DA7CBC12E}"/>
              </a:ext>
            </a:extLst>
          </p:cNvPr>
          <p:cNvSpPr/>
          <p:nvPr/>
        </p:nvSpPr>
        <p:spPr>
          <a:xfrm>
            <a:off x="0" y="0"/>
            <a:ext cx="12192000" cy="6858000"/>
          </a:xfrm>
          <a:prstGeom prst="rect">
            <a:avLst/>
          </a:prstGeom>
          <a:solidFill>
            <a:srgbClr val="1D86C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C13FC752-6CD5-A45A-CA92-B7BC7C4BA2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7520" y="345440"/>
            <a:ext cx="11216640" cy="6167120"/>
          </a:xfrm>
          <a:prstGeom prst="rect">
            <a:avLst/>
          </a:prstGeom>
        </p:spPr>
      </p:pic>
    </p:spTree>
    <p:extLst>
      <p:ext uri="{BB962C8B-B14F-4D97-AF65-F5344CB8AC3E}">
        <p14:creationId xmlns:p14="http://schemas.microsoft.com/office/powerpoint/2010/main" val="30543032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CC8212-DE65-69E3-51E7-39C84C7EDF2A}"/>
              </a:ext>
            </a:extLst>
          </p:cNvPr>
          <p:cNvSpPr/>
          <p:nvPr/>
        </p:nvSpPr>
        <p:spPr>
          <a:xfrm>
            <a:off x="0" y="0"/>
            <a:ext cx="12192000" cy="68580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E10D419D-7E07-9A04-FCEE-A6DB09A08C80}"/>
              </a:ext>
            </a:extLst>
          </p:cNvPr>
          <p:cNvSpPr/>
          <p:nvPr/>
        </p:nvSpPr>
        <p:spPr>
          <a:xfrm>
            <a:off x="171061" y="179639"/>
            <a:ext cx="11849877" cy="6498721"/>
          </a:xfrm>
          <a:prstGeom prst="roundRect">
            <a:avLst>
              <a:gd name="adj" fmla="val 5899"/>
            </a:avLst>
          </a:prstGeom>
        </p:spPr>
        <p:style>
          <a:lnRef idx="2">
            <a:schemeClr val="accent5"/>
          </a:lnRef>
          <a:fillRef idx="1">
            <a:schemeClr val="lt1"/>
          </a:fillRef>
          <a:effectRef idx="0">
            <a:schemeClr val="accent5"/>
          </a:effectRef>
          <a:fontRef idx="minor">
            <a:schemeClr val="dk1"/>
          </a:fontRef>
        </p:style>
        <p:txBody>
          <a:bodyPr rtlCol="0" anchor="ctr"/>
          <a:lstStyle/>
          <a:p>
            <a:endParaRPr lang="en-US" dirty="0"/>
          </a:p>
          <a:p>
            <a:endParaRPr lang="en-US" dirty="0"/>
          </a:p>
          <a:p>
            <a:endParaRPr lang="en-US" dirty="0"/>
          </a:p>
          <a:p>
            <a:endParaRPr lang="en-US" dirty="0"/>
          </a:p>
          <a:p>
            <a:r>
              <a:rPr lang="en-US" dirty="0"/>
              <a:t>The system successfully transforms raw podcast audio into structured, navigable information that enables efficient content exploration without listening to full recordings. Instead of producing only transcripts, the pipeline generates multiple layered outputs that improve usability, readability, and information retrieval.</a:t>
            </a:r>
          </a:p>
          <a:p>
            <a:endParaRPr lang="en-US" dirty="0"/>
          </a:p>
          <a:p>
            <a:r>
              <a:rPr lang="en-US" b="1" u="sng" dirty="0"/>
              <a:t>Generated Outputs Per Podcast</a:t>
            </a:r>
          </a:p>
          <a:p>
            <a:endParaRPr lang="en-US" b="1" dirty="0"/>
          </a:p>
          <a:p>
            <a:r>
              <a:rPr lang="en-US" dirty="0"/>
              <a:t>Structured Transcript — Timestamp-aligned text generated from audio speech.</a:t>
            </a:r>
          </a:p>
          <a:p>
            <a:r>
              <a:rPr lang="en-US" dirty="0"/>
              <a:t>Topic Segments — Logically grouped discussion sections detected using semantic clustering.</a:t>
            </a:r>
          </a:p>
          <a:p>
            <a:r>
              <a:rPr lang="en-US" dirty="0"/>
              <a:t>Segment Summaries — Concise explanations that capture the core idea of each topic.</a:t>
            </a:r>
          </a:p>
          <a:p>
            <a:r>
              <a:rPr lang="en-US" dirty="0"/>
              <a:t>Keywords — Important terms representing each segment’s theme.</a:t>
            </a:r>
          </a:p>
          <a:p>
            <a:r>
              <a:rPr lang="en-US" dirty="0"/>
              <a:t>Sentiment Labels — Emotional tone classification (Positive / Neutral / Negative).</a:t>
            </a:r>
          </a:p>
          <a:p>
            <a:r>
              <a:rPr lang="en-US" dirty="0"/>
              <a:t>Observed System Performance</a:t>
            </a:r>
          </a:p>
          <a:p>
            <a:r>
              <a:rPr lang="en-US" dirty="0"/>
              <a:t>Segmentation produced coherent topic boundaries across varied podcast styles.</a:t>
            </a:r>
          </a:p>
          <a:p>
            <a:r>
              <a:rPr lang="en-US" dirty="0"/>
              <a:t>Summaries accurately reflected discussion content while remaining concise.</a:t>
            </a:r>
          </a:p>
          <a:p>
            <a:r>
              <a:rPr lang="en-US" dirty="0"/>
              <a:t>Keywords were generally meaningful and useful for quick topic identification.</a:t>
            </a:r>
          </a:p>
          <a:p>
            <a:r>
              <a:rPr lang="en-US" dirty="0"/>
              <a:t>Timestamp alignment enabled precise navigation to audio positions.</a:t>
            </a:r>
          </a:p>
          <a:p>
            <a:r>
              <a:rPr lang="en-US" dirty="0"/>
              <a:t>Interface allowed users to scan podcast content significantly faster than linear listening.</a:t>
            </a:r>
          </a:p>
          <a:p>
            <a:r>
              <a:rPr lang="en-US" dirty="0"/>
              <a:t>Practical Impact</a:t>
            </a:r>
          </a:p>
        </p:txBody>
      </p:sp>
      <p:sp>
        <p:nvSpPr>
          <p:cNvPr id="5" name="Rectangle 4">
            <a:extLst>
              <a:ext uri="{FF2B5EF4-FFF2-40B4-BE49-F238E27FC236}">
                <a16:creationId xmlns:a16="http://schemas.microsoft.com/office/drawing/2014/main" id="{1EACCAAC-50C4-55E7-925A-A397E259F2F2}"/>
              </a:ext>
            </a:extLst>
          </p:cNvPr>
          <p:cNvSpPr/>
          <p:nvPr/>
        </p:nvSpPr>
        <p:spPr>
          <a:xfrm>
            <a:off x="4851918" y="485192"/>
            <a:ext cx="2976466" cy="54117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2000" b="1" u="sng" dirty="0">
                <a:latin typeface="Algerian" panose="04020705040A02060702" pitchFamily="82" charset="0"/>
              </a:rPr>
              <a:t>Results &amp; Outputs</a:t>
            </a:r>
            <a:endParaRPr lang="en-IN" sz="2000" b="1" u="sng" dirty="0">
              <a:latin typeface="Algerian" panose="04020705040A02060702" pitchFamily="82" charset="0"/>
            </a:endParaRPr>
          </a:p>
        </p:txBody>
      </p:sp>
    </p:spTree>
    <p:extLst>
      <p:ext uri="{BB962C8B-B14F-4D97-AF65-F5344CB8AC3E}">
        <p14:creationId xmlns:p14="http://schemas.microsoft.com/office/powerpoint/2010/main" val="1240405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1B83116-BCD3-2EAD-16CD-7D0130A77219}"/>
              </a:ext>
            </a:extLst>
          </p:cNvPr>
          <p:cNvSpPr/>
          <p:nvPr/>
        </p:nvSpPr>
        <p:spPr>
          <a:xfrm>
            <a:off x="91440" y="81280"/>
            <a:ext cx="11998960" cy="6685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BCEC9A5E-C173-6E66-317E-F6FCD764B1FE}"/>
              </a:ext>
            </a:extLst>
          </p:cNvPr>
          <p:cNvSpPr/>
          <p:nvPr/>
        </p:nvSpPr>
        <p:spPr>
          <a:xfrm>
            <a:off x="162560" y="182880"/>
            <a:ext cx="11856720" cy="644144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IN" dirty="0"/>
          </a:p>
        </p:txBody>
      </p:sp>
      <p:sp>
        <p:nvSpPr>
          <p:cNvPr id="4" name="Frame 3">
            <a:extLst>
              <a:ext uri="{FF2B5EF4-FFF2-40B4-BE49-F238E27FC236}">
                <a16:creationId xmlns:a16="http://schemas.microsoft.com/office/drawing/2014/main" id="{DDB6E8BC-8C1D-D55E-2A18-AB3A26793E82}"/>
              </a:ext>
            </a:extLst>
          </p:cNvPr>
          <p:cNvSpPr/>
          <p:nvPr/>
        </p:nvSpPr>
        <p:spPr>
          <a:xfrm>
            <a:off x="3952240" y="335280"/>
            <a:ext cx="4287520" cy="589280"/>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lgerian" panose="04020705040A02060702" pitchFamily="82" charset="0"/>
              </a:rPr>
              <a:t>TESTING &amp; VALIDATION</a:t>
            </a:r>
            <a:endParaRPr lang="en-IN" sz="2800" b="1" dirty="0">
              <a:solidFill>
                <a:schemeClr val="tx1"/>
              </a:solidFill>
              <a:latin typeface="Algerian" panose="04020705040A02060702" pitchFamily="82" charset="0"/>
            </a:endParaRPr>
          </a:p>
        </p:txBody>
      </p:sp>
      <p:graphicFrame>
        <p:nvGraphicFramePr>
          <p:cNvPr id="6" name="Table 5">
            <a:extLst>
              <a:ext uri="{FF2B5EF4-FFF2-40B4-BE49-F238E27FC236}">
                <a16:creationId xmlns:a16="http://schemas.microsoft.com/office/drawing/2014/main" id="{2345BA2B-5C6D-FBE9-F489-2FCF26A99C13}"/>
              </a:ext>
            </a:extLst>
          </p:cNvPr>
          <p:cNvGraphicFramePr>
            <a:graphicFrameLocks noGrp="1"/>
          </p:cNvGraphicFramePr>
          <p:nvPr>
            <p:extLst>
              <p:ext uri="{D42A27DB-BD31-4B8C-83A1-F6EECF244321}">
                <p14:modId xmlns:p14="http://schemas.microsoft.com/office/powerpoint/2010/main" val="3763253420"/>
              </p:ext>
            </p:extLst>
          </p:nvPr>
        </p:nvGraphicFramePr>
        <p:xfrm>
          <a:off x="447039" y="1168400"/>
          <a:ext cx="11287761" cy="2926080"/>
        </p:xfrm>
        <a:graphic>
          <a:graphicData uri="http://schemas.openxmlformats.org/drawingml/2006/table">
            <a:tbl>
              <a:tblPr firstRow="1" bandRow="1">
                <a:tableStyleId>{7DF18680-E054-41AD-8BC1-D1AEF772440D}</a:tableStyleId>
              </a:tblPr>
              <a:tblGrid>
                <a:gridCol w="1361440">
                  <a:extLst>
                    <a:ext uri="{9D8B030D-6E8A-4147-A177-3AD203B41FA5}">
                      <a16:colId xmlns:a16="http://schemas.microsoft.com/office/drawing/2014/main" val="4003480846"/>
                    </a:ext>
                  </a:extLst>
                </a:gridCol>
                <a:gridCol w="2580640">
                  <a:extLst>
                    <a:ext uri="{9D8B030D-6E8A-4147-A177-3AD203B41FA5}">
                      <a16:colId xmlns:a16="http://schemas.microsoft.com/office/drawing/2014/main" val="1464946147"/>
                    </a:ext>
                  </a:extLst>
                </a:gridCol>
                <a:gridCol w="2550160">
                  <a:extLst>
                    <a:ext uri="{9D8B030D-6E8A-4147-A177-3AD203B41FA5}">
                      <a16:colId xmlns:a16="http://schemas.microsoft.com/office/drawing/2014/main" val="886076008"/>
                    </a:ext>
                  </a:extLst>
                </a:gridCol>
                <a:gridCol w="2062480">
                  <a:extLst>
                    <a:ext uri="{9D8B030D-6E8A-4147-A177-3AD203B41FA5}">
                      <a16:colId xmlns:a16="http://schemas.microsoft.com/office/drawing/2014/main" val="3876402048"/>
                    </a:ext>
                  </a:extLst>
                </a:gridCol>
                <a:gridCol w="2733041">
                  <a:extLst>
                    <a:ext uri="{9D8B030D-6E8A-4147-A177-3AD203B41FA5}">
                      <a16:colId xmlns:a16="http://schemas.microsoft.com/office/drawing/2014/main" val="469427603"/>
                    </a:ext>
                  </a:extLst>
                </a:gridCol>
              </a:tblGrid>
              <a:tr h="312229">
                <a:tc>
                  <a:txBody>
                    <a:bodyPr/>
                    <a:lstStyle/>
                    <a:p>
                      <a:pPr>
                        <a:buNone/>
                      </a:pPr>
                      <a:r>
                        <a:rPr lang="en-IN" dirty="0"/>
                        <a:t>Sample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Test Condition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Issue Observed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System Response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Improvement Applied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7434772"/>
                  </a:ext>
                </a:extLst>
              </a:tr>
              <a:tr h="546401">
                <a:tc>
                  <a:txBody>
                    <a:bodyPr/>
                    <a:lstStyle/>
                    <a:p>
                      <a:pPr>
                        <a:buNone/>
                      </a:pPr>
                      <a:r>
                        <a:rPr lang="en-IN"/>
                        <a:t>Podcast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Long discussion topic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Segments too frequent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Detected topic shifts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Increased clustering similarity threshold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9027866"/>
                  </a:ext>
                </a:extLst>
              </a:tr>
              <a:tr h="546401">
                <a:tc>
                  <a:txBody>
                    <a:bodyPr/>
                    <a:lstStyle/>
                    <a:p>
                      <a:pPr>
                        <a:buNone/>
                      </a:pPr>
                      <a:r>
                        <a:rPr lang="en-IN"/>
                        <a:t>Podcast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Informational lecture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Summary too detailed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Generated full-context summary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Reduced summary compression length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7794188"/>
                  </a:ext>
                </a:extLst>
              </a:tr>
              <a:tr h="546401">
                <a:tc>
                  <a:txBody>
                    <a:bodyPr/>
                    <a:lstStyle/>
                    <a:p>
                      <a:pPr>
                        <a:buNone/>
                      </a:pPr>
                      <a:r>
                        <a:rPr lang="en-IN" dirty="0"/>
                        <a:t>Podcast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Multi-topic dialogue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Keywords less relevant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Extracted generic terms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Tuned TF-IDF weighting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4233146"/>
                  </a:ext>
                </a:extLst>
              </a:tr>
              <a:tr h="546401">
                <a:tc>
                  <a:txBody>
                    <a:bodyPr/>
                    <a:lstStyle/>
                    <a:p>
                      <a:pPr>
                        <a:buNone/>
                      </a:pPr>
                      <a:r>
                        <a:rPr lang="en-IN"/>
                        <a:t>Podcast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Background noise present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Minor transcription errors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t>Recognized most speech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t>Applied noise reduction preprocessing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302560"/>
                  </a:ext>
                </a:extLst>
              </a:tr>
            </a:tbl>
          </a:graphicData>
        </a:graphic>
      </p:graphicFrame>
      <p:sp>
        <p:nvSpPr>
          <p:cNvPr id="8" name="Frame 7">
            <a:extLst>
              <a:ext uri="{FF2B5EF4-FFF2-40B4-BE49-F238E27FC236}">
                <a16:creationId xmlns:a16="http://schemas.microsoft.com/office/drawing/2014/main" id="{C749673C-4233-59B0-0799-73E414E1B3CE}"/>
              </a:ext>
            </a:extLst>
          </p:cNvPr>
          <p:cNvSpPr/>
          <p:nvPr/>
        </p:nvSpPr>
        <p:spPr>
          <a:xfrm>
            <a:off x="4155440" y="4338320"/>
            <a:ext cx="3881120" cy="589280"/>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Algerian" panose="04020705040A02060702" pitchFamily="82" charset="0"/>
              </a:rPr>
              <a:t>USER FEEDBACK </a:t>
            </a:r>
            <a:endParaRPr lang="en-IN" sz="2800" b="1" dirty="0">
              <a:solidFill>
                <a:schemeClr val="tx1"/>
              </a:solidFill>
              <a:latin typeface="Algerian" panose="04020705040A02060702" pitchFamily="82" charset="0"/>
            </a:endParaRPr>
          </a:p>
        </p:txBody>
      </p:sp>
      <p:pic>
        <p:nvPicPr>
          <p:cNvPr id="16" name="Graphic 15" descr="User with solid fill">
            <a:extLst>
              <a:ext uri="{FF2B5EF4-FFF2-40B4-BE49-F238E27FC236}">
                <a16:creationId xmlns:a16="http://schemas.microsoft.com/office/drawing/2014/main" id="{19089CCB-1F3D-6622-D299-D28ACCF07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17600" y="5466080"/>
            <a:ext cx="914400" cy="914400"/>
          </a:xfrm>
          <a:prstGeom prst="rect">
            <a:avLst/>
          </a:prstGeom>
        </p:spPr>
      </p:pic>
      <p:sp>
        <p:nvSpPr>
          <p:cNvPr id="17" name="Rectangle 16">
            <a:extLst>
              <a:ext uri="{FF2B5EF4-FFF2-40B4-BE49-F238E27FC236}">
                <a16:creationId xmlns:a16="http://schemas.microsoft.com/office/drawing/2014/main" id="{71254D81-48D7-7234-FDC8-2147E328C71F}"/>
              </a:ext>
            </a:extLst>
          </p:cNvPr>
          <p:cNvSpPr/>
          <p:nvPr/>
        </p:nvSpPr>
        <p:spPr>
          <a:xfrm>
            <a:off x="1148080" y="6309360"/>
            <a:ext cx="822960" cy="2844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1</a:t>
            </a:r>
            <a:endParaRPr lang="en-IN" dirty="0">
              <a:solidFill>
                <a:schemeClr val="tx1"/>
              </a:solidFill>
            </a:endParaRPr>
          </a:p>
        </p:txBody>
      </p:sp>
      <p:sp>
        <p:nvSpPr>
          <p:cNvPr id="23" name="Speech Bubble: Oval 22">
            <a:extLst>
              <a:ext uri="{FF2B5EF4-FFF2-40B4-BE49-F238E27FC236}">
                <a16:creationId xmlns:a16="http://schemas.microsoft.com/office/drawing/2014/main" id="{1FE69A70-FC6B-BB5C-D867-0D7A38CCB16B}"/>
              </a:ext>
            </a:extLst>
          </p:cNvPr>
          <p:cNvSpPr/>
          <p:nvPr/>
        </p:nvSpPr>
        <p:spPr>
          <a:xfrm>
            <a:off x="1676400" y="4418984"/>
            <a:ext cx="2153920" cy="1269385"/>
          </a:xfrm>
          <a:prstGeom prst="wedgeEllipseCallout">
            <a:avLst>
              <a:gd name="adj1" fmla="val -48328"/>
              <a:gd name="adj2" fmla="val 473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433235D1-6FDB-009C-371E-EE5BC4EC327F}"/>
              </a:ext>
            </a:extLst>
          </p:cNvPr>
          <p:cNvSpPr txBox="1"/>
          <p:nvPr/>
        </p:nvSpPr>
        <p:spPr>
          <a:xfrm>
            <a:off x="1971040" y="4679911"/>
            <a:ext cx="1605280" cy="923330"/>
          </a:xfrm>
          <a:prstGeom prst="rect">
            <a:avLst/>
          </a:prstGeom>
          <a:noFill/>
        </p:spPr>
        <p:txBody>
          <a:bodyPr wrap="square" rtlCol="0">
            <a:spAutoFit/>
          </a:bodyPr>
          <a:lstStyle/>
          <a:p>
            <a:r>
              <a:rPr lang="en-US" dirty="0"/>
              <a:t>Keyword are irrelevant for some podcasts</a:t>
            </a:r>
            <a:endParaRPr lang="en-IN" dirty="0"/>
          </a:p>
        </p:txBody>
      </p:sp>
      <p:pic>
        <p:nvPicPr>
          <p:cNvPr id="25" name="Graphic 24" descr="Female Profile with solid fill">
            <a:extLst>
              <a:ext uri="{FF2B5EF4-FFF2-40B4-BE49-F238E27FC236}">
                <a16:creationId xmlns:a16="http://schemas.microsoft.com/office/drawing/2014/main" id="{23C00C47-DC7B-6ABA-247A-6CEE08CF84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02480" y="5466080"/>
            <a:ext cx="914400" cy="914400"/>
          </a:xfrm>
          <a:prstGeom prst="rect">
            <a:avLst/>
          </a:prstGeom>
        </p:spPr>
      </p:pic>
      <p:sp>
        <p:nvSpPr>
          <p:cNvPr id="26" name="Rectangle 25">
            <a:extLst>
              <a:ext uri="{FF2B5EF4-FFF2-40B4-BE49-F238E27FC236}">
                <a16:creationId xmlns:a16="http://schemas.microsoft.com/office/drawing/2014/main" id="{702E7E33-6395-737C-BB14-5E02F28E7DF0}"/>
              </a:ext>
            </a:extLst>
          </p:cNvPr>
          <p:cNvSpPr/>
          <p:nvPr/>
        </p:nvSpPr>
        <p:spPr>
          <a:xfrm>
            <a:off x="4627880" y="6299200"/>
            <a:ext cx="822960" cy="2844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2</a:t>
            </a:r>
            <a:endParaRPr lang="en-IN" dirty="0">
              <a:solidFill>
                <a:schemeClr val="tx1"/>
              </a:solidFill>
            </a:endParaRPr>
          </a:p>
        </p:txBody>
      </p:sp>
      <p:sp>
        <p:nvSpPr>
          <p:cNvPr id="27" name="Speech Bubble: Oval 26">
            <a:extLst>
              <a:ext uri="{FF2B5EF4-FFF2-40B4-BE49-F238E27FC236}">
                <a16:creationId xmlns:a16="http://schemas.microsoft.com/office/drawing/2014/main" id="{89BE19E3-CD91-09AA-17E0-DE8683C5411C}"/>
              </a:ext>
            </a:extLst>
          </p:cNvPr>
          <p:cNvSpPr/>
          <p:nvPr/>
        </p:nvSpPr>
        <p:spPr>
          <a:xfrm>
            <a:off x="5711752" y="5135680"/>
            <a:ext cx="2043476" cy="1343287"/>
          </a:xfrm>
          <a:prstGeom prst="wedgeEllipseCallout">
            <a:avLst>
              <a:gd name="adj1" fmla="val -65098"/>
              <a:gd name="adj2" fmla="val -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7F0CEAC7-B630-8D78-048D-4BDE11C719BD}"/>
              </a:ext>
            </a:extLst>
          </p:cNvPr>
          <p:cNvSpPr txBox="1"/>
          <p:nvPr/>
        </p:nvSpPr>
        <p:spPr>
          <a:xfrm>
            <a:off x="5821680" y="5455920"/>
            <a:ext cx="1849120" cy="646331"/>
          </a:xfrm>
          <a:prstGeom prst="rect">
            <a:avLst/>
          </a:prstGeom>
          <a:noFill/>
        </p:spPr>
        <p:txBody>
          <a:bodyPr wrap="square" rtlCol="0">
            <a:spAutoFit/>
          </a:bodyPr>
          <a:lstStyle/>
          <a:p>
            <a:r>
              <a:rPr lang="en-US" dirty="0"/>
              <a:t>Found Transcripts slightly lengthy</a:t>
            </a:r>
            <a:endParaRPr lang="en-IN" dirty="0"/>
          </a:p>
        </p:txBody>
      </p:sp>
      <p:pic>
        <p:nvPicPr>
          <p:cNvPr id="30" name="Graphic 29" descr="Male profile with solid fill">
            <a:extLst>
              <a:ext uri="{FF2B5EF4-FFF2-40B4-BE49-F238E27FC236}">
                <a16:creationId xmlns:a16="http://schemas.microsoft.com/office/drawing/2014/main" id="{3CE61464-15A0-2682-43DC-201FF96AE9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849360" y="5466080"/>
            <a:ext cx="914400" cy="914400"/>
          </a:xfrm>
          <a:prstGeom prst="rect">
            <a:avLst/>
          </a:prstGeom>
        </p:spPr>
      </p:pic>
      <p:sp>
        <p:nvSpPr>
          <p:cNvPr id="31" name="Speech Bubble: Oval 30">
            <a:extLst>
              <a:ext uri="{FF2B5EF4-FFF2-40B4-BE49-F238E27FC236}">
                <a16:creationId xmlns:a16="http://schemas.microsoft.com/office/drawing/2014/main" id="{007C2216-864D-50CF-562B-56F90208DA32}"/>
              </a:ext>
            </a:extLst>
          </p:cNvPr>
          <p:cNvSpPr/>
          <p:nvPr/>
        </p:nvSpPr>
        <p:spPr>
          <a:xfrm>
            <a:off x="9580880" y="4500987"/>
            <a:ext cx="2153920" cy="1269385"/>
          </a:xfrm>
          <a:prstGeom prst="wedgeEllipseCallout">
            <a:avLst>
              <a:gd name="adj1" fmla="val -48328"/>
              <a:gd name="adj2" fmla="val 4735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C52D34E3-8F24-F202-AAAB-50B0A45BE979}"/>
              </a:ext>
            </a:extLst>
          </p:cNvPr>
          <p:cNvSpPr/>
          <p:nvPr/>
        </p:nvSpPr>
        <p:spPr>
          <a:xfrm>
            <a:off x="8895080" y="6289040"/>
            <a:ext cx="822960" cy="2844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User 3</a:t>
            </a:r>
            <a:endParaRPr lang="en-IN" dirty="0">
              <a:solidFill>
                <a:schemeClr val="tx1"/>
              </a:solidFill>
            </a:endParaRPr>
          </a:p>
        </p:txBody>
      </p:sp>
      <p:sp>
        <p:nvSpPr>
          <p:cNvPr id="33" name="TextBox 32">
            <a:extLst>
              <a:ext uri="{FF2B5EF4-FFF2-40B4-BE49-F238E27FC236}">
                <a16:creationId xmlns:a16="http://schemas.microsoft.com/office/drawing/2014/main" id="{56D38BCB-81A0-3C8D-BCAA-0CBF2580BE18}"/>
              </a:ext>
            </a:extLst>
          </p:cNvPr>
          <p:cNvSpPr txBox="1"/>
          <p:nvPr/>
        </p:nvSpPr>
        <p:spPr>
          <a:xfrm>
            <a:off x="9763760" y="4815840"/>
            <a:ext cx="1971040" cy="646331"/>
          </a:xfrm>
          <a:prstGeom prst="rect">
            <a:avLst/>
          </a:prstGeom>
          <a:noFill/>
        </p:spPr>
        <p:txBody>
          <a:bodyPr wrap="square" rtlCol="0">
            <a:spAutoFit/>
          </a:bodyPr>
          <a:lstStyle/>
          <a:p>
            <a:r>
              <a:rPr lang="en-US" dirty="0"/>
              <a:t>Suggested clearer topic titles</a:t>
            </a:r>
            <a:endParaRPr lang="en-IN" dirty="0"/>
          </a:p>
        </p:txBody>
      </p:sp>
    </p:spTree>
    <p:extLst>
      <p:ext uri="{BB962C8B-B14F-4D97-AF65-F5344CB8AC3E}">
        <p14:creationId xmlns:p14="http://schemas.microsoft.com/office/powerpoint/2010/main" val="2543505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474BC21-DC74-024A-C9F8-F475D4E23121}"/>
              </a:ext>
            </a:extLst>
          </p:cNvPr>
          <p:cNvSpPr/>
          <p:nvPr/>
        </p:nvSpPr>
        <p:spPr>
          <a:xfrm>
            <a:off x="81280" y="81280"/>
            <a:ext cx="12009120" cy="6685280"/>
          </a:xfrm>
          <a:prstGeom prst="roundRect">
            <a:avLst>
              <a:gd name="adj" fmla="val 6029"/>
            </a:avLst>
          </a:prstGeom>
          <a:solidFill>
            <a:srgbClr val="2EA5D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66D1DECF-4F59-AEE0-CDB4-7D83464FCB32}"/>
              </a:ext>
            </a:extLst>
          </p:cNvPr>
          <p:cNvSpPr/>
          <p:nvPr/>
        </p:nvSpPr>
        <p:spPr>
          <a:xfrm>
            <a:off x="762000" y="1127760"/>
            <a:ext cx="10607040" cy="53136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D5CA99E-E42F-CD39-2674-248F63E89DC0}"/>
              </a:ext>
            </a:extLst>
          </p:cNvPr>
          <p:cNvSpPr txBox="1"/>
          <p:nvPr/>
        </p:nvSpPr>
        <p:spPr>
          <a:xfrm>
            <a:off x="1696720" y="1270000"/>
            <a:ext cx="3048000" cy="523220"/>
          </a:xfrm>
          <a:prstGeom prst="rect">
            <a:avLst/>
          </a:prstGeom>
          <a:noFill/>
        </p:spPr>
        <p:txBody>
          <a:bodyPr wrap="square" rtlCol="0">
            <a:spAutoFit/>
          </a:bodyPr>
          <a:lstStyle/>
          <a:p>
            <a:r>
              <a:rPr lang="en-US" sz="2800" u="sng" dirty="0">
                <a:latin typeface="Algerian" panose="04020705040A02060702" pitchFamily="82" charset="0"/>
              </a:rPr>
              <a:t>LIMITATIONS</a:t>
            </a:r>
            <a:endParaRPr lang="en-IN" sz="2800" u="sng" dirty="0">
              <a:latin typeface="Algerian" panose="04020705040A02060702" pitchFamily="82" charset="0"/>
            </a:endParaRPr>
          </a:p>
        </p:txBody>
      </p:sp>
      <p:sp>
        <p:nvSpPr>
          <p:cNvPr id="5" name="TextBox 4">
            <a:extLst>
              <a:ext uri="{FF2B5EF4-FFF2-40B4-BE49-F238E27FC236}">
                <a16:creationId xmlns:a16="http://schemas.microsoft.com/office/drawing/2014/main" id="{74E61A0A-7C20-EDE3-5FDC-A9485C120A8A}"/>
              </a:ext>
            </a:extLst>
          </p:cNvPr>
          <p:cNvSpPr txBox="1"/>
          <p:nvPr/>
        </p:nvSpPr>
        <p:spPr>
          <a:xfrm>
            <a:off x="6939280" y="1259840"/>
            <a:ext cx="2550160" cy="523220"/>
          </a:xfrm>
          <a:prstGeom prst="rect">
            <a:avLst/>
          </a:prstGeom>
          <a:noFill/>
        </p:spPr>
        <p:txBody>
          <a:bodyPr wrap="square" rtlCol="0">
            <a:spAutoFit/>
          </a:bodyPr>
          <a:lstStyle/>
          <a:p>
            <a:r>
              <a:rPr lang="en-US" sz="2800" u="sng" dirty="0">
                <a:latin typeface="Algerian" panose="04020705040A02060702" pitchFamily="82" charset="0"/>
              </a:rPr>
              <a:t>FUTURE WORK</a:t>
            </a:r>
            <a:endParaRPr lang="en-IN" sz="2800" u="sng" dirty="0">
              <a:latin typeface="Algerian" panose="04020705040A02060702" pitchFamily="82" charset="0"/>
            </a:endParaRPr>
          </a:p>
        </p:txBody>
      </p:sp>
      <p:sp>
        <p:nvSpPr>
          <p:cNvPr id="7" name="Frame 6">
            <a:extLst>
              <a:ext uri="{FF2B5EF4-FFF2-40B4-BE49-F238E27FC236}">
                <a16:creationId xmlns:a16="http://schemas.microsoft.com/office/drawing/2014/main" id="{8FBA25FD-A100-B2E6-2952-E84AB94657E2}"/>
              </a:ext>
            </a:extLst>
          </p:cNvPr>
          <p:cNvSpPr/>
          <p:nvPr/>
        </p:nvSpPr>
        <p:spPr>
          <a:xfrm>
            <a:off x="2743200" y="223520"/>
            <a:ext cx="6024880" cy="629920"/>
          </a:xfrm>
          <a:prstGeom prst="fram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dirty="0">
                <a:solidFill>
                  <a:schemeClr val="tx1"/>
                </a:solidFill>
                <a:latin typeface="Algerian" panose="04020705040A02060702" pitchFamily="82" charset="0"/>
              </a:rPr>
              <a:t>LIMITATIONS AND FUTURE WORK</a:t>
            </a:r>
            <a:endParaRPr lang="en-IN" sz="2800" dirty="0">
              <a:solidFill>
                <a:schemeClr val="tx1"/>
              </a:solidFill>
              <a:latin typeface="Algerian" panose="04020705040A02060702" pitchFamily="82" charset="0"/>
            </a:endParaRPr>
          </a:p>
        </p:txBody>
      </p:sp>
      <p:sp>
        <p:nvSpPr>
          <p:cNvPr id="8" name="TextBox 7">
            <a:extLst>
              <a:ext uri="{FF2B5EF4-FFF2-40B4-BE49-F238E27FC236}">
                <a16:creationId xmlns:a16="http://schemas.microsoft.com/office/drawing/2014/main" id="{6FC0CF1F-2F87-940A-8F39-FF593C5EA074}"/>
              </a:ext>
            </a:extLst>
          </p:cNvPr>
          <p:cNvSpPr txBox="1"/>
          <p:nvPr/>
        </p:nvSpPr>
        <p:spPr>
          <a:xfrm>
            <a:off x="985520" y="1950720"/>
            <a:ext cx="4856480" cy="4401205"/>
          </a:xfrm>
          <a:prstGeom prst="rect">
            <a:avLst/>
          </a:prstGeom>
          <a:noFill/>
        </p:spPr>
        <p:txBody>
          <a:bodyPr wrap="square" rtlCol="0">
            <a:spAutoFit/>
          </a:bodyPr>
          <a:lstStyle/>
          <a:p>
            <a:r>
              <a:rPr lang="en-US" dirty="0"/>
              <a:t>• </a:t>
            </a:r>
            <a:r>
              <a:rPr lang="en-US" sz="2000" b="1" dirty="0">
                <a:latin typeface="Century" panose="02040604050505020304" pitchFamily="18" charset="0"/>
              </a:rPr>
              <a:t>Accuracy depends on audio clarity and background noise</a:t>
            </a:r>
          </a:p>
          <a:p>
            <a:endParaRPr lang="en-US" sz="2000" b="1" dirty="0">
              <a:latin typeface="Century" panose="02040604050505020304" pitchFamily="18" charset="0"/>
            </a:endParaRPr>
          </a:p>
          <a:p>
            <a:r>
              <a:rPr lang="en-US" dirty="0"/>
              <a:t>• </a:t>
            </a:r>
            <a:r>
              <a:rPr lang="en-US" sz="2000" b="1" dirty="0">
                <a:latin typeface="Century" panose="02040604050505020304" pitchFamily="18" charset="0"/>
              </a:rPr>
              <a:t>Segmentation may slightly split or merge related topics</a:t>
            </a:r>
          </a:p>
          <a:p>
            <a:endParaRPr lang="en-US" sz="2000" b="1" dirty="0">
              <a:latin typeface="Century" panose="02040604050505020304" pitchFamily="18" charset="0"/>
            </a:endParaRPr>
          </a:p>
          <a:p>
            <a:r>
              <a:rPr lang="en-US" sz="2000" b="1" dirty="0">
                <a:latin typeface="Century" panose="02040604050505020304" pitchFamily="18" charset="0"/>
              </a:rPr>
              <a:t>• Sentiment detection sometimes misses subtle emotions</a:t>
            </a:r>
          </a:p>
          <a:p>
            <a:endParaRPr lang="en-US" sz="2000" b="1" dirty="0">
              <a:latin typeface="Century" panose="02040604050505020304" pitchFamily="18" charset="0"/>
            </a:endParaRPr>
          </a:p>
          <a:p>
            <a:r>
              <a:rPr lang="en-US" sz="2000" b="1" dirty="0">
                <a:latin typeface="Century" panose="02040604050505020304" pitchFamily="18" charset="0"/>
              </a:rPr>
              <a:t>• Long recordings increase processing time</a:t>
            </a:r>
          </a:p>
          <a:p>
            <a:endParaRPr lang="en-US" sz="2000" b="1" dirty="0">
              <a:latin typeface="Century" panose="02040604050505020304" pitchFamily="18" charset="0"/>
            </a:endParaRPr>
          </a:p>
          <a:p>
            <a:r>
              <a:rPr lang="en-US" sz="2000" b="1" dirty="0">
                <a:latin typeface="Century" panose="02040604050505020304" pitchFamily="18" charset="0"/>
              </a:rPr>
              <a:t>• Keyword extraction may include generic terms</a:t>
            </a:r>
            <a:endParaRPr lang="en-IN" sz="2000" b="1" dirty="0">
              <a:latin typeface="Century" panose="02040604050505020304" pitchFamily="18" charset="0"/>
            </a:endParaRPr>
          </a:p>
        </p:txBody>
      </p:sp>
      <p:pic>
        <p:nvPicPr>
          <p:cNvPr id="10" name="Graphic 9" descr="Line arrow: Straight with solid fill">
            <a:extLst>
              <a:ext uri="{FF2B5EF4-FFF2-40B4-BE49-F238E27FC236}">
                <a16:creationId xmlns:a16="http://schemas.microsoft.com/office/drawing/2014/main" id="{4786CB02-8F88-E0A8-9685-A1F8ED2DB5B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8320" y="2067560"/>
            <a:ext cx="914400" cy="594360"/>
          </a:xfrm>
          <a:prstGeom prst="rect">
            <a:avLst/>
          </a:prstGeom>
        </p:spPr>
      </p:pic>
      <p:pic>
        <p:nvPicPr>
          <p:cNvPr id="11" name="Graphic 10" descr="Line arrow: Straight with solid fill">
            <a:extLst>
              <a:ext uri="{FF2B5EF4-FFF2-40B4-BE49-F238E27FC236}">
                <a16:creationId xmlns:a16="http://schemas.microsoft.com/office/drawing/2014/main" id="{80553ACF-2F28-A97A-AC7F-38291816D2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8320" y="4645658"/>
            <a:ext cx="914400" cy="594360"/>
          </a:xfrm>
          <a:prstGeom prst="rect">
            <a:avLst/>
          </a:prstGeom>
        </p:spPr>
      </p:pic>
      <p:pic>
        <p:nvPicPr>
          <p:cNvPr id="12" name="Graphic 11" descr="Line arrow: Straight with solid fill">
            <a:extLst>
              <a:ext uri="{FF2B5EF4-FFF2-40B4-BE49-F238E27FC236}">
                <a16:creationId xmlns:a16="http://schemas.microsoft.com/office/drawing/2014/main" id="{F3A07588-D5F0-8E00-E9F2-35C31B7E94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18480" y="3723640"/>
            <a:ext cx="914400" cy="594360"/>
          </a:xfrm>
          <a:prstGeom prst="rect">
            <a:avLst/>
          </a:prstGeom>
        </p:spPr>
      </p:pic>
      <p:pic>
        <p:nvPicPr>
          <p:cNvPr id="14" name="Graphic 13" descr="Line arrow: Straight with solid fill">
            <a:extLst>
              <a:ext uri="{FF2B5EF4-FFF2-40B4-BE49-F238E27FC236}">
                <a16:creationId xmlns:a16="http://schemas.microsoft.com/office/drawing/2014/main" id="{9C85443E-CF96-011F-EB79-DA1B4DA443F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18480" y="2867680"/>
            <a:ext cx="914400" cy="594360"/>
          </a:xfrm>
          <a:prstGeom prst="rect">
            <a:avLst/>
          </a:prstGeom>
        </p:spPr>
      </p:pic>
      <p:pic>
        <p:nvPicPr>
          <p:cNvPr id="15" name="Graphic 14" descr="Line arrow: Straight with solid fill">
            <a:extLst>
              <a:ext uri="{FF2B5EF4-FFF2-40B4-BE49-F238E27FC236}">
                <a16:creationId xmlns:a16="http://schemas.microsoft.com/office/drawing/2014/main" id="{2F615706-54AC-E13B-B88D-2FEB8944FF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3240" y="5601969"/>
            <a:ext cx="914400" cy="594360"/>
          </a:xfrm>
          <a:prstGeom prst="rect">
            <a:avLst/>
          </a:prstGeom>
        </p:spPr>
      </p:pic>
      <p:sp>
        <p:nvSpPr>
          <p:cNvPr id="16" name="TextBox 15">
            <a:extLst>
              <a:ext uri="{FF2B5EF4-FFF2-40B4-BE49-F238E27FC236}">
                <a16:creationId xmlns:a16="http://schemas.microsoft.com/office/drawing/2014/main" id="{D0FE8957-858A-C69B-FA55-4B9091ABCE1C}"/>
              </a:ext>
            </a:extLst>
          </p:cNvPr>
          <p:cNvSpPr txBox="1"/>
          <p:nvPr/>
        </p:nvSpPr>
        <p:spPr>
          <a:xfrm>
            <a:off x="6756400" y="1950720"/>
            <a:ext cx="4307840" cy="4401205"/>
          </a:xfrm>
          <a:prstGeom prst="rect">
            <a:avLst/>
          </a:prstGeom>
          <a:noFill/>
        </p:spPr>
        <p:txBody>
          <a:bodyPr wrap="square" rtlCol="0">
            <a:spAutoFit/>
          </a:bodyPr>
          <a:lstStyle/>
          <a:p>
            <a:r>
              <a:rPr lang="en-IN" dirty="0"/>
              <a:t>• </a:t>
            </a:r>
            <a:r>
              <a:rPr lang="en-IN" sz="2000" b="1" dirty="0">
                <a:latin typeface="Century" panose="02040604050505020304" pitchFamily="18" charset="0"/>
              </a:rPr>
              <a:t>Integrate noise-robust speech recognition models  </a:t>
            </a:r>
          </a:p>
          <a:p>
            <a:endParaRPr lang="en-IN" sz="2000" b="1" dirty="0">
              <a:latin typeface="Century" panose="02040604050505020304" pitchFamily="18" charset="0"/>
            </a:endParaRPr>
          </a:p>
          <a:p>
            <a:r>
              <a:rPr lang="en-IN" sz="2000" b="1" dirty="0">
                <a:latin typeface="Century" panose="02040604050505020304" pitchFamily="18" charset="0"/>
              </a:rPr>
              <a:t>• Apply adaptive topic segmentation techniques</a:t>
            </a:r>
          </a:p>
          <a:p>
            <a:r>
              <a:rPr lang="en-IN" sz="2000" b="1" dirty="0">
                <a:latin typeface="Century" panose="02040604050505020304" pitchFamily="18" charset="0"/>
              </a:rPr>
              <a:t>  </a:t>
            </a:r>
          </a:p>
          <a:p>
            <a:r>
              <a:rPr lang="en-IN" sz="2000" b="1" dirty="0">
                <a:latin typeface="Century" panose="02040604050505020304" pitchFamily="18" charset="0"/>
              </a:rPr>
              <a:t>• Improve sentiment detection using contextual models </a:t>
            </a:r>
          </a:p>
          <a:p>
            <a:r>
              <a:rPr lang="en-IN" sz="2000" b="1" dirty="0">
                <a:latin typeface="Century" panose="02040604050505020304" pitchFamily="18" charset="0"/>
              </a:rPr>
              <a:t> </a:t>
            </a:r>
          </a:p>
          <a:p>
            <a:r>
              <a:rPr lang="en-IN" sz="2000" b="1" dirty="0">
                <a:latin typeface="Century" panose="02040604050505020304" pitchFamily="18" charset="0"/>
              </a:rPr>
              <a:t>• Optimize pipeline for faster processing speed  </a:t>
            </a:r>
          </a:p>
          <a:p>
            <a:endParaRPr lang="en-IN" sz="2000" b="1" dirty="0">
              <a:latin typeface="Century" panose="02040604050505020304" pitchFamily="18" charset="0"/>
            </a:endParaRPr>
          </a:p>
          <a:p>
            <a:r>
              <a:rPr lang="en-IN" sz="2000" b="1" dirty="0">
                <a:latin typeface="Century" panose="02040604050505020304" pitchFamily="18" charset="0"/>
              </a:rPr>
              <a:t>• Implement smarter keyword ranking methods</a:t>
            </a:r>
          </a:p>
        </p:txBody>
      </p:sp>
      <p:pic>
        <p:nvPicPr>
          <p:cNvPr id="18" name="Graphic 17" descr="Warning with solid fill">
            <a:extLst>
              <a:ext uri="{FF2B5EF4-FFF2-40B4-BE49-F238E27FC236}">
                <a16:creationId xmlns:a16="http://schemas.microsoft.com/office/drawing/2014/main" id="{E3DEEB2F-6904-9275-2DF9-ADECC40742E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7360" y="792480"/>
            <a:ext cx="822960" cy="822960"/>
          </a:xfrm>
          <a:prstGeom prst="rect">
            <a:avLst/>
          </a:prstGeom>
        </p:spPr>
      </p:pic>
      <p:pic>
        <p:nvPicPr>
          <p:cNvPr id="20" name="Graphic 19" descr="Bullseye with solid fill">
            <a:extLst>
              <a:ext uri="{FF2B5EF4-FFF2-40B4-BE49-F238E27FC236}">
                <a16:creationId xmlns:a16="http://schemas.microsoft.com/office/drawing/2014/main" id="{B9F93369-9E2E-E608-5B39-7CF9EFB4092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39142">
            <a:off x="10881360" y="5902960"/>
            <a:ext cx="914400" cy="914400"/>
          </a:xfrm>
          <a:prstGeom prst="rect">
            <a:avLst/>
          </a:prstGeom>
        </p:spPr>
      </p:pic>
      <p:pic>
        <p:nvPicPr>
          <p:cNvPr id="21" name="Graphic 20" descr="Line arrow: Straight with solid fill">
            <a:extLst>
              <a:ext uri="{FF2B5EF4-FFF2-40B4-BE49-F238E27FC236}">
                <a16:creationId xmlns:a16="http://schemas.microsoft.com/office/drawing/2014/main" id="{186449F5-3F62-ECE0-2826-C92F267FCDF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3239" y="2057731"/>
            <a:ext cx="914400" cy="594360"/>
          </a:xfrm>
          <a:prstGeom prst="rect">
            <a:avLst/>
          </a:prstGeom>
        </p:spPr>
      </p:pic>
      <p:pic>
        <p:nvPicPr>
          <p:cNvPr id="22" name="Graphic 21" descr="Line arrow: Straight with solid fill">
            <a:extLst>
              <a:ext uri="{FF2B5EF4-FFF2-40B4-BE49-F238E27FC236}">
                <a16:creationId xmlns:a16="http://schemas.microsoft.com/office/drawing/2014/main" id="{0462D654-3CE6-93F7-A507-F7D1733F00E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3240" y="4635829"/>
            <a:ext cx="914400" cy="594360"/>
          </a:xfrm>
          <a:prstGeom prst="rect">
            <a:avLst/>
          </a:prstGeom>
        </p:spPr>
      </p:pic>
      <p:pic>
        <p:nvPicPr>
          <p:cNvPr id="23" name="Graphic 22" descr="Line arrow: Straight with solid fill">
            <a:extLst>
              <a:ext uri="{FF2B5EF4-FFF2-40B4-BE49-F238E27FC236}">
                <a16:creationId xmlns:a16="http://schemas.microsoft.com/office/drawing/2014/main" id="{C8B6ABA0-1D5A-1EB1-F699-A60CB73973C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3240" y="3713811"/>
            <a:ext cx="914400" cy="594360"/>
          </a:xfrm>
          <a:prstGeom prst="rect">
            <a:avLst/>
          </a:prstGeom>
        </p:spPr>
      </p:pic>
      <p:pic>
        <p:nvPicPr>
          <p:cNvPr id="24" name="Graphic 23" descr="Line arrow: Straight with solid fill">
            <a:extLst>
              <a:ext uri="{FF2B5EF4-FFF2-40B4-BE49-F238E27FC236}">
                <a16:creationId xmlns:a16="http://schemas.microsoft.com/office/drawing/2014/main" id="{1A387E71-FAFF-374D-2595-5AB3648D98D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5603239" y="2857851"/>
            <a:ext cx="914400" cy="594360"/>
          </a:xfrm>
          <a:prstGeom prst="rect">
            <a:avLst/>
          </a:prstGeom>
        </p:spPr>
      </p:pic>
    </p:spTree>
    <p:extLst>
      <p:ext uri="{BB962C8B-B14F-4D97-AF65-F5344CB8AC3E}">
        <p14:creationId xmlns:p14="http://schemas.microsoft.com/office/powerpoint/2010/main" val="872885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576</TotalTime>
  <Words>825</Words>
  <Application>Microsoft Office PowerPoint</Application>
  <PresentationFormat>Widescreen</PresentationFormat>
  <Paragraphs>149</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Algerian</vt:lpstr>
      <vt:lpstr>Arial</vt:lpstr>
      <vt:lpstr>Arial Rounded MT Bold</vt:lpstr>
      <vt:lpstr>Calibri</vt:lpstr>
      <vt:lpstr>Calibri Light</vt:lpstr>
      <vt:lpstr>Century</vt:lpstr>
      <vt:lpstr>Lucida Calligraphy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Devi Padmavathi</dc:creator>
  <cp:lastModifiedBy>Devi Padmavathi</cp:lastModifiedBy>
  <cp:revision>2</cp:revision>
  <dcterms:created xsi:type="dcterms:W3CDTF">2026-02-19T08:05:04Z</dcterms:created>
  <dcterms:modified xsi:type="dcterms:W3CDTF">2026-02-23T09:30:34Z</dcterms:modified>
</cp:coreProperties>
</file>