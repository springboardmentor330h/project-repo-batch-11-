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Roboto" charset="1" panose="02000000000000000000"/>
      <p:regular r:id="rId16"/>
    </p:embeddedFont>
    <p:embeddedFont>
      <p:font typeface="Roboto Bold" charset="1" panose="020000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 Id="rId9"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svg" Type="http://schemas.openxmlformats.org/officeDocument/2006/relationships/image"/><Relationship Id="rId11" Target="../media/image22.jpe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svg" Type="http://schemas.openxmlformats.org/officeDocument/2006/relationships/image"/><Relationship Id="rId9" Target="../media/image2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27.svg" Type="http://schemas.openxmlformats.org/officeDocument/2006/relationships/image"/><Relationship Id="rId8" Target="../media/image2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6.pn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 Id="rId8" Target="../media/image31.svg" Type="http://schemas.openxmlformats.org/officeDocument/2006/relationships/image"/><Relationship Id="rId9" Target="../media/image3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9507200" cy="10972800"/>
          </a:xfrm>
        </p:grpSpPr>
        <p:sp>
          <p:nvSpPr>
            <p:cNvPr name="Freeform 3" id="3"/>
            <p:cNvSpPr/>
            <p:nvPr/>
          </p:nvSpPr>
          <p:spPr>
            <a:xfrm flipH="false" flipV="false" rot="0">
              <a:off x="0" y="0"/>
              <a:ext cx="19507200" cy="10972800"/>
            </a:xfrm>
            <a:custGeom>
              <a:avLst/>
              <a:gdLst/>
              <a:ahLst/>
              <a:cxnLst/>
              <a:rect r="r" b="b" t="t" l="l"/>
              <a:pathLst>
                <a:path h="10972800" w="19507200">
                  <a:moveTo>
                    <a:pt x="0" y="0"/>
                  </a:moveTo>
                  <a:lnTo>
                    <a:pt x="19507200" y="0"/>
                  </a:lnTo>
                  <a:lnTo>
                    <a:pt x="19507200" y="10972800"/>
                  </a:lnTo>
                  <a:lnTo>
                    <a:pt x="0" y="10972800"/>
                  </a:lnTo>
                  <a:lnTo>
                    <a:pt x="0" y="0"/>
                  </a:lnTo>
                  <a:close/>
                </a:path>
              </a:pathLst>
            </a:custGeom>
            <a:blipFill>
              <a:blip r:embed="rId2"/>
              <a:stretch>
                <a:fillRect l="0" t="0" r="0" b="0"/>
              </a:stretch>
            </a:blipFill>
          </p:spPr>
        </p:sp>
      </p:grpSp>
      <p:sp>
        <p:nvSpPr>
          <p:cNvPr name="Freeform 4" id="4"/>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992255" y="2984087"/>
            <a:ext cx="13313152" cy="2073866"/>
          </a:xfrm>
          <a:prstGeom prst="rect">
            <a:avLst/>
          </a:prstGeom>
        </p:spPr>
        <p:txBody>
          <a:bodyPr anchor="t" rtlCol="false" tIns="0" lIns="0" bIns="0" rIns="0">
            <a:spAutoFit/>
          </a:bodyPr>
          <a:lstStyle/>
          <a:p>
            <a:pPr algn="l">
              <a:lnSpc>
                <a:spcPts val="8343"/>
              </a:lnSpc>
            </a:pPr>
            <a:r>
              <a:rPr lang="en-US" sz="5562">
                <a:solidFill>
                  <a:srgbClr val="FFFFFF"/>
                </a:solidFill>
                <a:latin typeface="Roboto"/>
                <a:ea typeface="Roboto"/>
                <a:cs typeface="Roboto"/>
                <a:sym typeface="Roboto"/>
              </a:rPr>
              <a:t>IntelliAudio: AI-Powered Long-Form Audio Understanding System</a:t>
            </a:r>
          </a:p>
        </p:txBody>
      </p:sp>
      <p:sp>
        <p:nvSpPr>
          <p:cNvPr name="TextBox 6" id="6"/>
          <p:cNvSpPr txBox="true"/>
          <p:nvPr/>
        </p:nvSpPr>
        <p:spPr>
          <a:xfrm rot="0">
            <a:off x="992255" y="6068723"/>
            <a:ext cx="13571303" cy="1050560"/>
          </a:xfrm>
          <a:prstGeom prst="rect">
            <a:avLst/>
          </a:prstGeom>
        </p:spPr>
        <p:txBody>
          <a:bodyPr anchor="t" rtlCol="false" tIns="0" lIns="0" bIns="0" rIns="0">
            <a:spAutoFit/>
          </a:bodyPr>
          <a:lstStyle/>
          <a:p>
            <a:pPr algn="l">
              <a:lnSpc>
                <a:spcPts val="4311"/>
              </a:lnSpc>
            </a:pPr>
            <a:r>
              <a:rPr lang="en-US" sz="2187">
                <a:solidFill>
                  <a:srgbClr val="CFD0D8"/>
                </a:solidFill>
                <a:latin typeface="Roboto"/>
                <a:ea typeface="Roboto"/>
                <a:cs typeface="Roboto"/>
                <a:sym typeface="Roboto"/>
              </a:rPr>
              <a:t>Transforming unstructured podcast audio into actionable insights through advanced speech recognition and natural language processing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9507200" cy="10972800"/>
          </a:xfrm>
        </p:grpSpPr>
        <p:sp>
          <p:nvSpPr>
            <p:cNvPr name="Freeform 3" id="3"/>
            <p:cNvSpPr/>
            <p:nvPr/>
          </p:nvSpPr>
          <p:spPr>
            <a:xfrm flipH="false" flipV="false" rot="0">
              <a:off x="0" y="0"/>
              <a:ext cx="19507200" cy="10972800"/>
            </a:xfrm>
            <a:custGeom>
              <a:avLst/>
              <a:gdLst/>
              <a:ahLst/>
              <a:cxnLst/>
              <a:rect r="r" b="b" t="t" l="l"/>
              <a:pathLst>
                <a:path h="10972800" w="19507200">
                  <a:moveTo>
                    <a:pt x="0" y="0"/>
                  </a:moveTo>
                  <a:lnTo>
                    <a:pt x="19507200" y="0"/>
                  </a:lnTo>
                  <a:lnTo>
                    <a:pt x="19507200" y="10972800"/>
                  </a:lnTo>
                  <a:lnTo>
                    <a:pt x="0" y="10972800"/>
                  </a:lnTo>
                  <a:lnTo>
                    <a:pt x="0" y="0"/>
                  </a:lnTo>
                  <a:close/>
                </a:path>
              </a:pathLst>
            </a:custGeom>
            <a:blipFill>
              <a:blip r:embed="rId2"/>
              <a:stretch>
                <a:fillRect l="0" t="0" r="0" b="0"/>
              </a:stretch>
            </a:blipFill>
          </p:spPr>
        </p:sp>
      </p:grpSp>
      <p:sp>
        <p:nvSpPr>
          <p:cNvPr name="Freeform 4" id="4"/>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276255" y="3262062"/>
            <a:ext cx="9203781" cy="5118747"/>
            <a:chOff x="0" y="0"/>
            <a:chExt cx="9817367" cy="5459997"/>
          </a:xfrm>
        </p:grpSpPr>
        <p:sp>
          <p:nvSpPr>
            <p:cNvPr name="Freeform 6" id="6"/>
            <p:cNvSpPr/>
            <p:nvPr/>
          </p:nvSpPr>
          <p:spPr>
            <a:xfrm flipH="false" flipV="false" rot="0">
              <a:off x="0" y="0"/>
              <a:ext cx="9817354" cy="5459984"/>
            </a:xfrm>
            <a:custGeom>
              <a:avLst/>
              <a:gdLst/>
              <a:ahLst/>
              <a:cxnLst/>
              <a:rect r="r" b="b" t="t" l="l"/>
              <a:pathLst>
                <a:path h="5459984" w="9817354">
                  <a:moveTo>
                    <a:pt x="0" y="0"/>
                  </a:moveTo>
                  <a:lnTo>
                    <a:pt x="9817354" y="0"/>
                  </a:lnTo>
                  <a:lnTo>
                    <a:pt x="9817354" y="5459984"/>
                  </a:lnTo>
                  <a:lnTo>
                    <a:pt x="0" y="5459984"/>
                  </a:lnTo>
                  <a:lnTo>
                    <a:pt x="0" y="0"/>
                  </a:lnTo>
                  <a:close/>
                </a:path>
              </a:pathLst>
            </a:custGeom>
            <a:blipFill>
              <a:blip r:embed="rId5"/>
              <a:stretch>
                <a:fillRect l="0" t="0" r="0" b="0"/>
              </a:stretch>
            </a:blipFill>
          </p:spPr>
        </p:sp>
      </p:grpSp>
      <p:sp>
        <p:nvSpPr>
          <p:cNvPr name="TextBox 7" id="7"/>
          <p:cNvSpPr txBox="true"/>
          <p:nvPr/>
        </p:nvSpPr>
        <p:spPr>
          <a:xfrm rot="0">
            <a:off x="890147" y="1273112"/>
            <a:ext cx="15057132" cy="852785"/>
          </a:xfrm>
          <a:prstGeom prst="rect">
            <a:avLst/>
          </a:prstGeom>
        </p:spPr>
        <p:txBody>
          <a:bodyPr anchor="t" rtlCol="false" tIns="0" lIns="0" bIns="0" rIns="0">
            <a:spAutoFit/>
          </a:bodyPr>
          <a:lstStyle/>
          <a:p>
            <a:pPr algn="l">
              <a:lnSpc>
                <a:spcPts val="6999"/>
              </a:lnSpc>
            </a:pPr>
            <a:r>
              <a:rPr lang="en-US" sz="4999">
                <a:solidFill>
                  <a:srgbClr val="FFFFFF"/>
                </a:solidFill>
                <a:latin typeface="Roboto"/>
                <a:ea typeface="Roboto"/>
                <a:cs typeface="Roboto"/>
                <a:sym typeface="Roboto"/>
              </a:rPr>
              <a:t>The Challenge: Navigating Long-Form Audio Content</a:t>
            </a:r>
          </a:p>
        </p:txBody>
      </p:sp>
      <p:sp>
        <p:nvSpPr>
          <p:cNvPr name="TextBox 8" id="8"/>
          <p:cNvSpPr txBox="true"/>
          <p:nvPr/>
        </p:nvSpPr>
        <p:spPr>
          <a:xfrm rot="0">
            <a:off x="12032754" y="2729496"/>
            <a:ext cx="2355247" cy="454974"/>
          </a:xfrm>
          <a:prstGeom prst="rect">
            <a:avLst/>
          </a:prstGeom>
        </p:spPr>
        <p:txBody>
          <a:bodyPr anchor="t" rtlCol="false" tIns="0" lIns="0" bIns="0" rIns="0">
            <a:spAutoFit/>
          </a:bodyPr>
          <a:lstStyle/>
          <a:p>
            <a:pPr algn="l">
              <a:lnSpc>
                <a:spcPts val="3789"/>
              </a:lnSpc>
            </a:pPr>
            <a:r>
              <a:rPr lang="en-US" b="true" sz="2499">
                <a:solidFill>
                  <a:srgbClr val="FFFFFF"/>
                </a:solidFill>
                <a:latin typeface="Roboto Bold"/>
                <a:ea typeface="Roboto Bold"/>
                <a:cs typeface="Roboto Bold"/>
                <a:sym typeface="Roboto Bold"/>
              </a:rPr>
              <a:t>Key Main Points</a:t>
            </a:r>
          </a:p>
        </p:txBody>
      </p:sp>
      <p:sp>
        <p:nvSpPr>
          <p:cNvPr name="TextBox 9" id="9"/>
          <p:cNvSpPr txBox="true"/>
          <p:nvPr/>
        </p:nvSpPr>
        <p:spPr>
          <a:xfrm rot="0">
            <a:off x="12068473" y="3189744"/>
            <a:ext cx="98346" cy="426613"/>
          </a:xfrm>
          <a:prstGeom prst="rect">
            <a:avLst/>
          </a:prstGeom>
        </p:spPr>
        <p:txBody>
          <a:bodyPr anchor="t" rtlCol="false" tIns="0" lIns="0" bIns="0" rIns="0">
            <a:spAutoFit/>
          </a:bodyPr>
          <a:lstStyle/>
          <a:p>
            <a:pPr algn="l">
              <a:lnSpc>
                <a:spcPts val="3411"/>
              </a:lnSpc>
            </a:pPr>
            <a:r>
              <a:rPr lang="en-US" sz="2250">
                <a:solidFill>
                  <a:srgbClr val="CFD0D8"/>
                </a:solidFill>
                <a:latin typeface="Roboto"/>
                <a:ea typeface="Roboto"/>
                <a:cs typeface="Roboto"/>
                <a:sym typeface="Roboto"/>
              </a:rPr>
              <a:t>•</a:t>
            </a:r>
          </a:p>
        </p:txBody>
      </p:sp>
      <p:sp>
        <p:nvSpPr>
          <p:cNvPr name="TextBox 10" id="10"/>
          <p:cNvSpPr txBox="true"/>
          <p:nvPr/>
        </p:nvSpPr>
        <p:spPr>
          <a:xfrm rot="0">
            <a:off x="12461379" y="3132594"/>
            <a:ext cx="4858441" cy="5091482"/>
          </a:xfrm>
          <a:prstGeom prst="rect">
            <a:avLst/>
          </a:prstGeom>
        </p:spPr>
        <p:txBody>
          <a:bodyPr anchor="t" rtlCol="false" tIns="0" lIns="0" bIns="0" rIns="0">
            <a:spAutoFit/>
          </a:bodyPr>
          <a:lstStyle/>
          <a:p>
            <a:pPr algn="l">
              <a:lnSpc>
                <a:spcPts val="4032"/>
              </a:lnSpc>
            </a:pPr>
            <a:r>
              <a:rPr lang="en-US" sz="2250">
                <a:solidFill>
                  <a:srgbClr val="CFD0D8"/>
                </a:solidFill>
                <a:latin typeface="Roboto"/>
                <a:ea typeface="Roboto"/>
                <a:cs typeface="Roboto"/>
                <a:sym typeface="Roboto"/>
              </a:rPr>
              <a:t>Podcasts average 30-60 minutes with no visual structure Finding speciﬁc topics requires manual scrubbing through entire episodes No searchable text or metadata for audio-only content Diﬃcult to extract key insights or gauge sentiment without listening to full recordings</a:t>
            </a:r>
          </a:p>
        </p:txBody>
      </p:sp>
      <p:sp>
        <p:nvSpPr>
          <p:cNvPr name="TextBox 11" id="11"/>
          <p:cNvSpPr txBox="true"/>
          <p:nvPr/>
        </p:nvSpPr>
        <p:spPr>
          <a:xfrm rot="0">
            <a:off x="12068473" y="4156531"/>
            <a:ext cx="98346" cy="483763"/>
          </a:xfrm>
          <a:prstGeom prst="rect">
            <a:avLst/>
          </a:prstGeom>
        </p:spPr>
        <p:txBody>
          <a:bodyPr anchor="t" rtlCol="false" tIns="0" lIns="0" bIns="0" rIns="0">
            <a:spAutoFit/>
          </a:bodyPr>
          <a:lstStyle/>
          <a:p>
            <a:pPr algn="l">
              <a:lnSpc>
                <a:spcPts val="4032"/>
              </a:lnSpc>
            </a:pPr>
            <a:r>
              <a:rPr lang="en-US" sz="2250">
                <a:solidFill>
                  <a:srgbClr val="CFD0D8"/>
                </a:solidFill>
                <a:latin typeface="Roboto"/>
                <a:ea typeface="Roboto"/>
                <a:cs typeface="Roboto"/>
                <a:sym typeface="Roboto"/>
              </a:rPr>
              <a:t>•</a:t>
            </a:r>
          </a:p>
        </p:txBody>
      </p:sp>
      <p:sp>
        <p:nvSpPr>
          <p:cNvPr name="TextBox 12" id="12"/>
          <p:cNvSpPr txBox="true"/>
          <p:nvPr/>
        </p:nvSpPr>
        <p:spPr>
          <a:xfrm rot="0">
            <a:off x="12068473" y="5692438"/>
            <a:ext cx="98346" cy="483763"/>
          </a:xfrm>
          <a:prstGeom prst="rect">
            <a:avLst/>
          </a:prstGeom>
        </p:spPr>
        <p:txBody>
          <a:bodyPr anchor="t" rtlCol="false" tIns="0" lIns="0" bIns="0" rIns="0">
            <a:spAutoFit/>
          </a:bodyPr>
          <a:lstStyle/>
          <a:p>
            <a:pPr algn="l">
              <a:lnSpc>
                <a:spcPts val="4032"/>
              </a:lnSpc>
            </a:pPr>
            <a:r>
              <a:rPr lang="en-US" sz="2250">
                <a:solidFill>
                  <a:srgbClr val="CFD0D8"/>
                </a:solidFill>
                <a:latin typeface="Roboto"/>
                <a:ea typeface="Roboto"/>
                <a:cs typeface="Roboto"/>
                <a:sym typeface="Roboto"/>
              </a:rPr>
              <a:t>•</a:t>
            </a:r>
          </a:p>
        </p:txBody>
      </p:sp>
      <p:sp>
        <p:nvSpPr>
          <p:cNvPr name="TextBox 13" id="13"/>
          <p:cNvSpPr txBox="true"/>
          <p:nvPr/>
        </p:nvSpPr>
        <p:spPr>
          <a:xfrm rot="0">
            <a:off x="12068473" y="6716375"/>
            <a:ext cx="98346" cy="483763"/>
          </a:xfrm>
          <a:prstGeom prst="rect">
            <a:avLst/>
          </a:prstGeom>
        </p:spPr>
        <p:txBody>
          <a:bodyPr anchor="t" rtlCol="false" tIns="0" lIns="0" bIns="0" rIns="0">
            <a:spAutoFit/>
          </a:bodyPr>
          <a:lstStyle/>
          <a:p>
            <a:pPr algn="l">
              <a:lnSpc>
                <a:spcPts val="4032"/>
              </a:lnSpc>
            </a:pPr>
            <a:r>
              <a:rPr lang="en-US" sz="2250">
                <a:solidFill>
                  <a:srgbClr val="CFD0D8"/>
                </a:solidFill>
                <a:latin typeface="Roboto"/>
                <a:ea typeface="Roboto"/>
                <a:cs typeface="Roboto"/>
                <a:sym typeface="Roboto"/>
              </a:rPr>
              <a:t>•</a:t>
            </a:r>
          </a:p>
        </p:txBody>
      </p:sp>
      <p:sp>
        <p:nvSpPr>
          <p:cNvPr name="TextBox 14" id="14"/>
          <p:cNvSpPr txBox="true"/>
          <p:nvPr/>
        </p:nvSpPr>
        <p:spPr>
          <a:xfrm rot="0">
            <a:off x="12032754" y="8212479"/>
            <a:ext cx="5448276" cy="1148132"/>
          </a:xfrm>
          <a:prstGeom prst="rect">
            <a:avLst/>
          </a:prstGeom>
        </p:spPr>
        <p:txBody>
          <a:bodyPr anchor="t" rtlCol="false" tIns="0" lIns="0" bIns="0" rIns="0">
            <a:spAutoFit/>
          </a:bodyPr>
          <a:lstStyle/>
          <a:p>
            <a:pPr algn="l">
              <a:lnSpc>
                <a:spcPts val="5625"/>
              </a:lnSpc>
            </a:pPr>
            <a:r>
              <a:rPr lang="en-US" sz="2250">
                <a:solidFill>
                  <a:srgbClr val="CFD0D8"/>
                </a:solidFill>
                <a:latin typeface="Roboto"/>
                <a:ea typeface="Roboto"/>
                <a:cs typeface="Roboto"/>
                <a:sym typeface="Roboto"/>
              </a:rPr>
              <a:t>Users need intelligent tools to parse,</a:t>
            </a:r>
          </a:p>
          <a:p>
            <a:pPr algn="l">
              <a:lnSpc>
                <a:spcPts val="2436"/>
              </a:lnSpc>
            </a:pPr>
            <a:r>
              <a:rPr lang="en-US" sz="2250" spc="2">
                <a:solidFill>
                  <a:srgbClr val="CFD0D8"/>
                </a:solidFill>
                <a:latin typeface="Roboto"/>
                <a:ea typeface="Roboto"/>
                <a:cs typeface="Roboto"/>
                <a:sym typeface="Roboto"/>
              </a:rPr>
              <a:t>understand, and navigate audio eﬃciently.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9507200" cy="10972800"/>
          </a:xfrm>
        </p:grpSpPr>
        <p:sp>
          <p:nvSpPr>
            <p:cNvPr name="Freeform 3" id="3"/>
            <p:cNvSpPr/>
            <p:nvPr/>
          </p:nvSpPr>
          <p:spPr>
            <a:xfrm flipH="false" flipV="false" rot="0">
              <a:off x="0" y="0"/>
              <a:ext cx="19507200" cy="10972800"/>
            </a:xfrm>
            <a:custGeom>
              <a:avLst/>
              <a:gdLst/>
              <a:ahLst/>
              <a:cxnLst/>
              <a:rect r="r" b="b" t="t" l="l"/>
              <a:pathLst>
                <a:path h="10972800" w="19507200">
                  <a:moveTo>
                    <a:pt x="0" y="0"/>
                  </a:moveTo>
                  <a:lnTo>
                    <a:pt x="19507200" y="0"/>
                  </a:lnTo>
                  <a:lnTo>
                    <a:pt x="19507200" y="10972800"/>
                  </a:lnTo>
                  <a:lnTo>
                    <a:pt x="0" y="10972800"/>
                  </a:lnTo>
                  <a:lnTo>
                    <a:pt x="0" y="0"/>
                  </a:lnTo>
                  <a:close/>
                </a:path>
              </a:pathLst>
            </a:custGeom>
            <a:blipFill>
              <a:blip r:embed="rId2"/>
              <a:stretch>
                <a:fillRect l="0" t="0" r="0" b="0"/>
              </a:stretch>
            </a:blipFill>
          </p:spPr>
        </p:sp>
      </p:grpSp>
      <p:sp>
        <p:nvSpPr>
          <p:cNvPr name="Freeform 4" id="4"/>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992243" y="4316016"/>
            <a:ext cx="16303371" cy="1134070"/>
            <a:chOff x="0" y="0"/>
            <a:chExt cx="17390262" cy="1209675"/>
          </a:xfrm>
        </p:grpSpPr>
        <p:sp>
          <p:nvSpPr>
            <p:cNvPr name="Freeform 6" id="6"/>
            <p:cNvSpPr/>
            <p:nvPr/>
          </p:nvSpPr>
          <p:spPr>
            <a:xfrm flipH="false" flipV="false" rot="0">
              <a:off x="0" y="0"/>
              <a:ext cx="17390238" cy="1209675"/>
            </a:xfrm>
            <a:custGeom>
              <a:avLst/>
              <a:gdLst/>
              <a:ahLst/>
              <a:cxnLst/>
              <a:rect r="r" b="b" t="t" l="l"/>
              <a:pathLst>
                <a:path h="1209675" w="17390238">
                  <a:moveTo>
                    <a:pt x="0" y="0"/>
                  </a:moveTo>
                  <a:lnTo>
                    <a:pt x="17390238" y="0"/>
                  </a:lnTo>
                  <a:lnTo>
                    <a:pt x="17390238" y="1209675"/>
                  </a:lnTo>
                  <a:lnTo>
                    <a:pt x="0" y="1209675"/>
                  </a:lnTo>
                  <a:lnTo>
                    <a:pt x="0" y="0"/>
                  </a:lnTo>
                  <a:close/>
                </a:path>
              </a:pathLst>
            </a:custGeom>
            <a:blipFill>
              <a:blip r:embed="rId5"/>
              <a:stretch>
                <a:fillRect l="0" t="0" r="0" b="0"/>
              </a:stretch>
            </a:blipFill>
          </p:spPr>
        </p:sp>
      </p:grpSp>
      <p:sp>
        <p:nvSpPr>
          <p:cNvPr name="TextBox 7" id="7"/>
          <p:cNvSpPr txBox="true"/>
          <p:nvPr/>
        </p:nvSpPr>
        <p:spPr>
          <a:xfrm rot="0">
            <a:off x="992243" y="1897523"/>
            <a:ext cx="16384607" cy="957060"/>
          </a:xfrm>
          <a:prstGeom prst="rect">
            <a:avLst/>
          </a:prstGeom>
        </p:spPr>
        <p:txBody>
          <a:bodyPr anchor="t" rtlCol="false" tIns="0" lIns="0" bIns="0" rIns="0">
            <a:spAutoFit/>
          </a:bodyPr>
          <a:lstStyle/>
          <a:p>
            <a:pPr algn="l">
              <a:lnSpc>
                <a:spcPts val="7787"/>
              </a:lnSpc>
            </a:pPr>
            <a:r>
              <a:rPr lang="en-US" sz="5562">
                <a:solidFill>
                  <a:srgbClr val="FFFFFF"/>
                </a:solidFill>
                <a:latin typeface="Roboto"/>
                <a:ea typeface="Roboto"/>
                <a:cs typeface="Roboto"/>
                <a:sym typeface="Roboto"/>
              </a:rPr>
              <a:t>Our Solution: End-to-End Audio Intelligence Pipeline</a:t>
            </a:r>
          </a:p>
        </p:txBody>
      </p:sp>
      <p:sp>
        <p:nvSpPr>
          <p:cNvPr name="TextBox 8" id="8"/>
          <p:cNvSpPr txBox="true"/>
          <p:nvPr/>
        </p:nvSpPr>
        <p:spPr>
          <a:xfrm rot="0">
            <a:off x="1275755" y="5681984"/>
            <a:ext cx="3768185" cy="1005542"/>
          </a:xfrm>
          <a:prstGeom prst="rect">
            <a:avLst/>
          </a:prstGeom>
        </p:spPr>
        <p:txBody>
          <a:bodyPr anchor="t" rtlCol="false" tIns="0" lIns="0" bIns="0" rIns="0">
            <a:spAutoFit/>
          </a:bodyPr>
          <a:lstStyle/>
          <a:p>
            <a:pPr algn="l">
              <a:lnSpc>
                <a:spcPts val="3850"/>
              </a:lnSpc>
            </a:pPr>
            <a:r>
              <a:rPr lang="en-US" sz="2750">
                <a:solidFill>
                  <a:srgbClr val="CFD0D8"/>
                </a:solidFill>
                <a:latin typeface="Roboto"/>
                <a:ea typeface="Roboto"/>
                <a:cs typeface="Roboto"/>
                <a:sym typeface="Roboto"/>
              </a:rPr>
              <a:t>Audio Input</a:t>
            </a:r>
          </a:p>
          <a:p>
            <a:pPr algn="l">
              <a:lnSpc>
                <a:spcPts val="3062"/>
              </a:lnSpc>
            </a:pPr>
            <a:r>
              <a:rPr lang="en-US" sz="2187">
                <a:solidFill>
                  <a:srgbClr val="CFD0D8"/>
                </a:solidFill>
                <a:latin typeface="Roboto"/>
                <a:ea typeface="Roboto"/>
                <a:cs typeface="Roboto"/>
                <a:sym typeface="Roboto"/>
              </a:rPr>
              <a:t>Long-form podcast audio ﬁles</a:t>
            </a:r>
          </a:p>
        </p:txBody>
      </p:sp>
      <p:sp>
        <p:nvSpPr>
          <p:cNvPr name="TextBox 9" id="9"/>
          <p:cNvSpPr txBox="true"/>
          <p:nvPr/>
        </p:nvSpPr>
        <p:spPr>
          <a:xfrm rot="0">
            <a:off x="6710220" y="5681984"/>
            <a:ext cx="3117628" cy="1005542"/>
          </a:xfrm>
          <a:prstGeom prst="rect">
            <a:avLst/>
          </a:prstGeom>
        </p:spPr>
        <p:txBody>
          <a:bodyPr anchor="t" rtlCol="false" tIns="0" lIns="0" bIns="0" rIns="0">
            <a:spAutoFit/>
          </a:bodyPr>
          <a:lstStyle/>
          <a:p>
            <a:pPr algn="l">
              <a:lnSpc>
                <a:spcPts val="3850"/>
              </a:lnSpc>
            </a:pPr>
            <a:r>
              <a:rPr lang="en-US" sz="2750">
                <a:solidFill>
                  <a:srgbClr val="CFD0D8"/>
                </a:solidFill>
                <a:latin typeface="Roboto"/>
                <a:ea typeface="Roboto"/>
                <a:cs typeface="Roboto"/>
                <a:sym typeface="Roboto"/>
              </a:rPr>
              <a:t>AI Processing</a:t>
            </a:r>
          </a:p>
          <a:p>
            <a:pPr algn="l">
              <a:lnSpc>
                <a:spcPts val="3062"/>
              </a:lnSpc>
            </a:pPr>
            <a:r>
              <a:rPr lang="en-US" sz="2187">
                <a:solidFill>
                  <a:srgbClr val="CFD0D8"/>
                </a:solidFill>
                <a:latin typeface="Roboto"/>
                <a:ea typeface="Roboto"/>
                <a:cs typeface="Roboto"/>
                <a:sym typeface="Roboto"/>
              </a:rPr>
              <a:t>Multi-stage NLP analysis</a:t>
            </a:r>
          </a:p>
        </p:txBody>
      </p:sp>
      <p:sp>
        <p:nvSpPr>
          <p:cNvPr name="TextBox 10" id="10"/>
          <p:cNvSpPr txBox="true"/>
          <p:nvPr/>
        </p:nvSpPr>
        <p:spPr>
          <a:xfrm rot="0">
            <a:off x="12144673" y="5681984"/>
            <a:ext cx="4493204" cy="1005542"/>
          </a:xfrm>
          <a:prstGeom prst="rect">
            <a:avLst/>
          </a:prstGeom>
        </p:spPr>
        <p:txBody>
          <a:bodyPr anchor="t" rtlCol="false" tIns="0" lIns="0" bIns="0" rIns="0">
            <a:spAutoFit/>
          </a:bodyPr>
          <a:lstStyle/>
          <a:p>
            <a:pPr algn="l">
              <a:lnSpc>
                <a:spcPts val="3850"/>
              </a:lnSpc>
            </a:pPr>
            <a:r>
              <a:rPr lang="en-US" sz="2750">
                <a:solidFill>
                  <a:srgbClr val="CFD0D8"/>
                </a:solidFill>
                <a:latin typeface="Roboto"/>
                <a:ea typeface="Roboto"/>
                <a:cs typeface="Roboto"/>
                <a:sym typeface="Roboto"/>
              </a:rPr>
              <a:t>Structured Output</a:t>
            </a:r>
          </a:p>
          <a:p>
            <a:pPr algn="l">
              <a:lnSpc>
                <a:spcPts val="3062"/>
              </a:lnSpc>
            </a:pPr>
            <a:r>
              <a:rPr lang="en-US" sz="2187">
                <a:solidFill>
                  <a:srgbClr val="CFD0D8"/>
                </a:solidFill>
                <a:latin typeface="Roboto"/>
                <a:ea typeface="Roboto"/>
                <a:cs typeface="Roboto"/>
                <a:sym typeface="Roboto"/>
              </a:rPr>
              <a:t>Searchable insights and summaries</a:t>
            </a:r>
          </a:p>
        </p:txBody>
      </p:sp>
      <p:sp>
        <p:nvSpPr>
          <p:cNvPr name="TextBox 11" id="11"/>
          <p:cNvSpPr txBox="true"/>
          <p:nvPr/>
        </p:nvSpPr>
        <p:spPr>
          <a:xfrm rot="0">
            <a:off x="992243" y="7239988"/>
            <a:ext cx="15628287" cy="1050560"/>
          </a:xfrm>
          <a:prstGeom prst="rect">
            <a:avLst/>
          </a:prstGeom>
        </p:spPr>
        <p:txBody>
          <a:bodyPr anchor="t" rtlCol="false" tIns="0" lIns="0" bIns="0" rIns="0">
            <a:spAutoFit/>
          </a:bodyPr>
          <a:lstStyle/>
          <a:p>
            <a:pPr algn="l">
              <a:lnSpc>
                <a:spcPts val="4311"/>
              </a:lnSpc>
            </a:pPr>
            <a:r>
              <a:rPr lang="en-US" sz="2187">
                <a:solidFill>
                  <a:srgbClr val="CFD0D8"/>
                </a:solidFill>
                <a:latin typeface="Roboto"/>
                <a:ea typeface="Roboto"/>
                <a:cs typeface="Roboto"/>
                <a:sym typeface="Roboto"/>
              </a:rPr>
              <a:t>IntelliAudio automatically transcribes audio, segments content by topic, extracts keywords, analyzes sentiment, and presents results through an interactive interface—enabling users to quickly ﬁnd and understand key moments in lengthy recordings.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9507200" cy="10972800"/>
          </a:xfrm>
        </p:grpSpPr>
        <p:sp>
          <p:nvSpPr>
            <p:cNvPr name="Freeform 3" id="3"/>
            <p:cNvSpPr/>
            <p:nvPr/>
          </p:nvSpPr>
          <p:spPr>
            <a:xfrm flipH="false" flipV="false" rot="0">
              <a:off x="0" y="0"/>
              <a:ext cx="19507200" cy="10972800"/>
            </a:xfrm>
            <a:custGeom>
              <a:avLst/>
              <a:gdLst/>
              <a:ahLst/>
              <a:cxnLst/>
              <a:rect r="r" b="b" t="t" l="l"/>
              <a:pathLst>
                <a:path h="10972800" w="19507200">
                  <a:moveTo>
                    <a:pt x="0" y="0"/>
                  </a:moveTo>
                  <a:lnTo>
                    <a:pt x="19507200" y="0"/>
                  </a:lnTo>
                  <a:lnTo>
                    <a:pt x="19507200" y="10972800"/>
                  </a:lnTo>
                  <a:lnTo>
                    <a:pt x="0" y="10972800"/>
                  </a:lnTo>
                  <a:lnTo>
                    <a:pt x="0" y="0"/>
                  </a:lnTo>
                  <a:close/>
                </a:path>
              </a:pathLst>
            </a:custGeom>
            <a:blipFill>
              <a:blip r:embed="rId2"/>
              <a:stretch>
                <a:fillRect l="0" t="0" r="0" b="0"/>
              </a:stretch>
            </a:blipFill>
          </p:spPr>
        </p:sp>
      </p:grpSp>
      <p:sp>
        <p:nvSpPr>
          <p:cNvPr name="Freeform 4" id="4"/>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199555" y="2077641"/>
            <a:ext cx="15888736" cy="5962209"/>
            <a:chOff x="0" y="0"/>
            <a:chExt cx="16947985" cy="6359690"/>
          </a:xfrm>
        </p:grpSpPr>
        <p:sp>
          <p:nvSpPr>
            <p:cNvPr name="Freeform 6" id="6"/>
            <p:cNvSpPr/>
            <p:nvPr/>
          </p:nvSpPr>
          <p:spPr>
            <a:xfrm flipH="false" flipV="false" rot="0">
              <a:off x="0" y="0"/>
              <a:ext cx="16948023" cy="6359652"/>
            </a:xfrm>
            <a:custGeom>
              <a:avLst/>
              <a:gdLst/>
              <a:ahLst/>
              <a:cxnLst/>
              <a:rect r="r" b="b" t="t" l="l"/>
              <a:pathLst>
                <a:path h="6359652" w="16948023">
                  <a:moveTo>
                    <a:pt x="0" y="0"/>
                  </a:moveTo>
                  <a:lnTo>
                    <a:pt x="16948023" y="0"/>
                  </a:lnTo>
                  <a:lnTo>
                    <a:pt x="16948023" y="6359652"/>
                  </a:lnTo>
                  <a:lnTo>
                    <a:pt x="0" y="6359652"/>
                  </a:lnTo>
                  <a:lnTo>
                    <a:pt x="0" y="0"/>
                  </a:lnTo>
                  <a:close/>
                </a:path>
              </a:pathLst>
            </a:custGeom>
            <a:blipFill>
              <a:blip r:embed="rId5"/>
              <a:stretch>
                <a:fillRect l="0" t="0" r="0" b="0"/>
              </a:stretch>
            </a:blipFill>
          </p:spPr>
        </p:sp>
      </p:grpSp>
      <p:grpSp>
        <p:nvGrpSpPr>
          <p:cNvPr name="Group 7" id="7"/>
          <p:cNvGrpSpPr/>
          <p:nvPr/>
        </p:nvGrpSpPr>
        <p:grpSpPr>
          <a:xfrm rot="0">
            <a:off x="14768727" y="3596319"/>
            <a:ext cx="820722" cy="820722"/>
            <a:chOff x="0" y="0"/>
            <a:chExt cx="875436" cy="875436"/>
          </a:xfrm>
        </p:grpSpPr>
        <p:sp>
          <p:nvSpPr>
            <p:cNvPr name="Freeform 8" id="8"/>
            <p:cNvSpPr/>
            <p:nvPr/>
          </p:nvSpPr>
          <p:spPr>
            <a:xfrm flipH="false" flipV="false" rot="0">
              <a:off x="0" y="0"/>
              <a:ext cx="875411" cy="875411"/>
            </a:xfrm>
            <a:custGeom>
              <a:avLst/>
              <a:gdLst/>
              <a:ahLst/>
              <a:cxnLst/>
              <a:rect r="r" b="b" t="t" l="l"/>
              <a:pathLst>
                <a:path h="875411" w="875411">
                  <a:moveTo>
                    <a:pt x="0" y="0"/>
                  </a:moveTo>
                  <a:lnTo>
                    <a:pt x="875411" y="0"/>
                  </a:lnTo>
                  <a:lnTo>
                    <a:pt x="875411" y="875411"/>
                  </a:lnTo>
                  <a:lnTo>
                    <a:pt x="0" y="875411"/>
                  </a:lnTo>
                  <a:lnTo>
                    <a:pt x="0" y="0"/>
                  </a:lnTo>
                  <a:close/>
                </a:path>
              </a:pathLst>
            </a:custGeom>
            <a:blipFill>
              <a:blip r:embed="rId6"/>
              <a:stretch>
                <a:fillRect l="0" t="0" r="-2" b="-2"/>
              </a:stretch>
            </a:blipFill>
          </p:spPr>
        </p:sp>
      </p:grpSp>
      <p:grpSp>
        <p:nvGrpSpPr>
          <p:cNvPr name="Group 9" id="9"/>
          <p:cNvGrpSpPr/>
          <p:nvPr/>
        </p:nvGrpSpPr>
        <p:grpSpPr>
          <a:xfrm rot="0">
            <a:off x="11764125" y="3597854"/>
            <a:ext cx="820722" cy="820722"/>
            <a:chOff x="0" y="0"/>
            <a:chExt cx="875436" cy="875436"/>
          </a:xfrm>
        </p:grpSpPr>
        <p:sp>
          <p:nvSpPr>
            <p:cNvPr name="Freeform 10" id="10"/>
            <p:cNvSpPr/>
            <p:nvPr/>
          </p:nvSpPr>
          <p:spPr>
            <a:xfrm flipH="false" flipV="false" rot="0">
              <a:off x="0" y="0"/>
              <a:ext cx="875411" cy="875411"/>
            </a:xfrm>
            <a:custGeom>
              <a:avLst/>
              <a:gdLst/>
              <a:ahLst/>
              <a:cxnLst/>
              <a:rect r="r" b="b" t="t" l="l"/>
              <a:pathLst>
                <a:path h="875411" w="875411">
                  <a:moveTo>
                    <a:pt x="0" y="0"/>
                  </a:moveTo>
                  <a:lnTo>
                    <a:pt x="875411" y="0"/>
                  </a:lnTo>
                  <a:lnTo>
                    <a:pt x="875411" y="875411"/>
                  </a:lnTo>
                  <a:lnTo>
                    <a:pt x="0" y="875411"/>
                  </a:lnTo>
                  <a:lnTo>
                    <a:pt x="0" y="0"/>
                  </a:lnTo>
                  <a:close/>
                </a:path>
              </a:pathLst>
            </a:custGeom>
            <a:blipFill>
              <a:blip r:embed="rId7"/>
              <a:stretch>
                <a:fillRect l="0" t="0" r="-2" b="-2"/>
              </a:stretch>
            </a:blipFill>
          </p:spPr>
        </p:sp>
      </p:grpSp>
      <p:grpSp>
        <p:nvGrpSpPr>
          <p:cNvPr name="Group 11" id="11"/>
          <p:cNvGrpSpPr/>
          <p:nvPr/>
        </p:nvGrpSpPr>
        <p:grpSpPr>
          <a:xfrm rot="0">
            <a:off x="8760285" y="3597854"/>
            <a:ext cx="820722" cy="820722"/>
            <a:chOff x="0" y="0"/>
            <a:chExt cx="875436" cy="875436"/>
          </a:xfrm>
        </p:grpSpPr>
        <p:sp>
          <p:nvSpPr>
            <p:cNvPr name="Freeform 12" id="12"/>
            <p:cNvSpPr/>
            <p:nvPr/>
          </p:nvSpPr>
          <p:spPr>
            <a:xfrm flipH="false" flipV="false" rot="0">
              <a:off x="0" y="0"/>
              <a:ext cx="875411" cy="875411"/>
            </a:xfrm>
            <a:custGeom>
              <a:avLst/>
              <a:gdLst/>
              <a:ahLst/>
              <a:cxnLst/>
              <a:rect r="r" b="b" t="t" l="l"/>
              <a:pathLst>
                <a:path h="875411" w="875411">
                  <a:moveTo>
                    <a:pt x="0" y="0"/>
                  </a:moveTo>
                  <a:lnTo>
                    <a:pt x="875411" y="0"/>
                  </a:lnTo>
                  <a:lnTo>
                    <a:pt x="875411" y="875411"/>
                  </a:lnTo>
                  <a:lnTo>
                    <a:pt x="0" y="875411"/>
                  </a:lnTo>
                  <a:lnTo>
                    <a:pt x="0" y="0"/>
                  </a:lnTo>
                  <a:close/>
                </a:path>
              </a:pathLst>
            </a:custGeom>
            <a:blipFill>
              <a:blip r:embed="rId8"/>
              <a:stretch>
                <a:fillRect l="0" t="0" r="-2" b="-2"/>
              </a:stretch>
            </a:blipFill>
          </p:spPr>
        </p:sp>
      </p:grpSp>
      <p:grpSp>
        <p:nvGrpSpPr>
          <p:cNvPr name="Group 13" id="13"/>
          <p:cNvGrpSpPr/>
          <p:nvPr/>
        </p:nvGrpSpPr>
        <p:grpSpPr>
          <a:xfrm rot="0">
            <a:off x="5756446" y="3597854"/>
            <a:ext cx="820722" cy="820722"/>
            <a:chOff x="0" y="0"/>
            <a:chExt cx="875436" cy="875436"/>
          </a:xfrm>
        </p:grpSpPr>
        <p:sp>
          <p:nvSpPr>
            <p:cNvPr name="Freeform 14" id="14"/>
            <p:cNvSpPr/>
            <p:nvPr/>
          </p:nvSpPr>
          <p:spPr>
            <a:xfrm flipH="false" flipV="false" rot="0">
              <a:off x="0" y="0"/>
              <a:ext cx="875411" cy="875411"/>
            </a:xfrm>
            <a:custGeom>
              <a:avLst/>
              <a:gdLst/>
              <a:ahLst/>
              <a:cxnLst/>
              <a:rect r="r" b="b" t="t" l="l"/>
              <a:pathLst>
                <a:path h="875411" w="875411">
                  <a:moveTo>
                    <a:pt x="0" y="0"/>
                  </a:moveTo>
                  <a:lnTo>
                    <a:pt x="875411" y="0"/>
                  </a:lnTo>
                  <a:lnTo>
                    <a:pt x="875411" y="875411"/>
                  </a:lnTo>
                  <a:lnTo>
                    <a:pt x="0" y="875411"/>
                  </a:lnTo>
                  <a:lnTo>
                    <a:pt x="0" y="0"/>
                  </a:lnTo>
                  <a:close/>
                </a:path>
              </a:pathLst>
            </a:custGeom>
            <a:blipFill>
              <a:blip r:embed="rId9"/>
              <a:stretch>
                <a:fillRect l="0" t="0" r="-2" b="-2"/>
              </a:stretch>
            </a:blipFill>
          </p:spPr>
        </p:sp>
      </p:grpSp>
      <p:grpSp>
        <p:nvGrpSpPr>
          <p:cNvPr name="Group 15" id="15"/>
          <p:cNvGrpSpPr/>
          <p:nvPr/>
        </p:nvGrpSpPr>
        <p:grpSpPr>
          <a:xfrm rot="0">
            <a:off x="2736199" y="3597854"/>
            <a:ext cx="820722" cy="820722"/>
            <a:chOff x="0" y="0"/>
            <a:chExt cx="875436" cy="875436"/>
          </a:xfrm>
        </p:grpSpPr>
        <p:sp>
          <p:nvSpPr>
            <p:cNvPr name="Freeform 16" id="16"/>
            <p:cNvSpPr/>
            <p:nvPr/>
          </p:nvSpPr>
          <p:spPr>
            <a:xfrm flipH="false" flipV="false" rot="0">
              <a:off x="0" y="0"/>
              <a:ext cx="875411" cy="875411"/>
            </a:xfrm>
            <a:custGeom>
              <a:avLst/>
              <a:gdLst/>
              <a:ahLst/>
              <a:cxnLst/>
              <a:rect r="r" b="b" t="t" l="l"/>
              <a:pathLst>
                <a:path h="875411" w="875411">
                  <a:moveTo>
                    <a:pt x="0" y="0"/>
                  </a:moveTo>
                  <a:lnTo>
                    <a:pt x="875411" y="0"/>
                  </a:lnTo>
                  <a:lnTo>
                    <a:pt x="875411" y="875411"/>
                  </a:lnTo>
                  <a:lnTo>
                    <a:pt x="0" y="875411"/>
                  </a:lnTo>
                  <a:lnTo>
                    <a:pt x="0" y="0"/>
                  </a:lnTo>
                  <a:close/>
                </a:path>
              </a:pathLst>
            </a:custGeom>
            <a:blipFill>
              <a:blip r:embed="rId10"/>
              <a:stretch>
                <a:fillRect l="0" t="0" r="-2" b="-2"/>
              </a:stretch>
            </a:blipFill>
          </p:spPr>
        </p:sp>
      </p:grpSp>
      <p:sp>
        <p:nvSpPr>
          <p:cNvPr name="TextBox 17" id="17"/>
          <p:cNvSpPr txBox="true"/>
          <p:nvPr/>
        </p:nvSpPr>
        <p:spPr>
          <a:xfrm rot="0">
            <a:off x="936724" y="656904"/>
            <a:ext cx="6109478" cy="909709"/>
          </a:xfrm>
          <a:prstGeom prst="rect">
            <a:avLst/>
          </a:prstGeom>
        </p:spPr>
        <p:txBody>
          <a:bodyPr anchor="t" rtlCol="false" tIns="0" lIns="0" bIns="0" rIns="0">
            <a:spAutoFit/>
          </a:bodyPr>
          <a:lstStyle/>
          <a:p>
            <a:pPr algn="l">
              <a:lnSpc>
                <a:spcPts val="7350"/>
              </a:lnSpc>
            </a:pPr>
            <a:r>
              <a:rPr lang="en-US" sz="5250">
                <a:solidFill>
                  <a:srgbClr val="FFFFFF"/>
                </a:solidFill>
                <a:latin typeface="Roboto"/>
                <a:ea typeface="Roboto"/>
                <a:cs typeface="Roboto"/>
                <a:sym typeface="Roboto"/>
              </a:rPr>
              <a:t>System Architecture</a:t>
            </a:r>
          </a:p>
        </p:txBody>
      </p:sp>
      <p:sp>
        <p:nvSpPr>
          <p:cNvPr name="TextBox 18" id="18"/>
          <p:cNvSpPr txBox="true"/>
          <p:nvPr/>
        </p:nvSpPr>
        <p:spPr>
          <a:xfrm rot="0">
            <a:off x="2213943" y="6538281"/>
            <a:ext cx="1875984" cy="502253"/>
          </a:xfrm>
          <a:prstGeom prst="rect">
            <a:avLst/>
          </a:prstGeom>
        </p:spPr>
        <p:txBody>
          <a:bodyPr anchor="t" rtlCol="false" tIns="0" lIns="0" bIns="0" rIns="0">
            <a:spAutoFit/>
          </a:bodyPr>
          <a:lstStyle/>
          <a:p>
            <a:pPr algn="l">
              <a:lnSpc>
                <a:spcPts val="4024"/>
              </a:lnSpc>
            </a:pPr>
            <a:r>
              <a:rPr lang="en-US" sz="2874">
                <a:solidFill>
                  <a:srgbClr val="CFD0D8"/>
                </a:solidFill>
                <a:latin typeface="Roboto"/>
                <a:ea typeface="Roboto"/>
                <a:cs typeface="Roboto"/>
                <a:sym typeface="Roboto"/>
              </a:rPr>
              <a:t>Preprocess</a:t>
            </a:r>
          </a:p>
        </p:txBody>
      </p:sp>
      <p:sp>
        <p:nvSpPr>
          <p:cNvPr name="TextBox 19" id="19"/>
          <p:cNvSpPr txBox="true"/>
          <p:nvPr/>
        </p:nvSpPr>
        <p:spPr>
          <a:xfrm rot="0">
            <a:off x="5342965" y="6538281"/>
            <a:ext cx="1746028" cy="502253"/>
          </a:xfrm>
          <a:prstGeom prst="rect">
            <a:avLst/>
          </a:prstGeom>
        </p:spPr>
        <p:txBody>
          <a:bodyPr anchor="t" rtlCol="false" tIns="0" lIns="0" bIns="0" rIns="0">
            <a:spAutoFit/>
          </a:bodyPr>
          <a:lstStyle/>
          <a:p>
            <a:pPr algn="l">
              <a:lnSpc>
                <a:spcPts val="4024"/>
              </a:lnSpc>
            </a:pPr>
            <a:r>
              <a:rPr lang="en-US" sz="2874">
                <a:solidFill>
                  <a:srgbClr val="CFD0D8"/>
                </a:solidFill>
                <a:latin typeface="Roboto"/>
                <a:ea typeface="Roboto"/>
                <a:cs typeface="Roboto"/>
                <a:sym typeface="Roboto"/>
              </a:rPr>
              <a:t>Transcribe</a:t>
            </a:r>
          </a:p>
        </p:txBody>
      </p:sp>
      <p:sp>
        <p:nvSpPr>
          <p:cNvPr name="TextBox 20" id="20"/>
          <p:cNvSpPr txBox="true"/>
          <p:nvPr/>
        </p:nvSpPr>
        <p:spPr>
          <a:xfrm rot="0">
            <a:off x="8477774" y="6538281"/>
            <a:ext cx="1479221" cy="502253"/>
          </a:xfrm>
          <a:prstGeom prst="rect">
            <a:avLst/>
          </a:prstGeom>
        </p:spPr>
        <p:txBody>
          <a:bodyPr anchor="t" rtlCol="false" tIns="0" lIns="0" bIns="0" rIns="0">
            <a:spAutoFit/>
          </a:bodyPr>
          <a:lstStyle/>
          <a:p>
            <a:pPr algn="l">
              <a:lnSpc>
                <a:spcPts val="4024"/>
              </a:lnSpc>
            </a:pPr>
            <a:r>
              <a:rPr lang="en-US" sz="2874">
                <a:solidFill>
                  <a:srgbClr val="CFD0D8"/>
                </a:solidFill>
                <a:latin typeface="Roboto"/>
                <a:ea typeface="Roboto"/>
                <a:cs typeface="Roboto"/>
                <a:sym typeface="Roboto"/>
              </a:rPr>
              <a:t>Segment</a:t>
            </a:r>
          </a:p>
        </p:txBody>
      </p:sp>
      <p:sp>
        <p:nvSpPr>
          <p:cNvPr name="TextBox 21" id="21"/>
          <p:cNvSpPr txBox="true"/>
          <p:nvPr/>
        </p:nvSpPr>
        <p:spPr>
          <a:xfrm rot="0">
            <a:off x="11291114" y="6538281"/>
            <a:ext cx="1878092" cy="502253"/>
          </a:xfrm>
          <a:prstGeom prst="rect">
            <a:avLst/>
          </a:prstGeom>
        </p:spPr>
        <p:txBody>
          <a:bodyPr anchor="t" rtlCol="false" tIns="0" lIns="0" bIns="0" rIns="0">
            <a:spAutoFit/>
          </a:bodyPr>
          <a:lstStyle/>
          <a:p>
            <a:pPr algn="l">
              <a:lnSpc>
                <a:spcPts val="4024"/>
              </a:lnSpc>
            </a:pPr>
            <a:r>
              <a:rPr lang="en-US" sz="2874">
                <a:solidFill>
                  <a:srgbClr val="CFD0D8"/>
                </a:solidFill>
                <a:latin typeface="Roboto"/>
                <a:ea typeface="Roboto"/>
                <a:cs typeface="Roboto"/>
                <a:sym typeface="Roboto"/>
              </a:rPr>
              <a:t>Summarize</a:t>
            </a:r>
          </a:p>
        </p:txBody>
      </p:sp>
      <p:sp>
        <p:nvSpPr>
          <p:cNvPr name="TextBox 22" id="22"/>
          <p:cNvSpPr txBox="true"/>
          <p:nvPr/>
        </p:nvSpPr>
        <p:spPr>
          <a:xfrm rot="0">
            <a:off x="14442329" y="6538281"/>
            <a:ext cx="1617345" cy="502253"/>
          </a:xfrm>
          <a:prstGeom prst="rect">
            <a:avLst/>
          </a:prstGeom>
        </p:spPr>
        <p:txBody>
          <a:bodyPr anchor="t" rtlCol="false" tIns="0" lIns="0" bIns="0" rIns="0">
            <a:spAutoFit/>
          </a:bodyPr>
          <a:lstStyle/>
          <a:p>
            <a:pPr algn="l">
              <a:lnSpc>
                <a:spcPts val="4024"/>
              </a:lnSpc>
            </a:pPr>
            <a:r>
              <a:rPr lang="en-US" sz="2874">
                <a:solidFill>
                  <a:srgbClr val="CFD0D8"/>
                </a:solidFill>
                <a:latin typeface="Roboto"/>
                <a:ea typeface="Roboto"/>
                <a:cs typeface="Roboto"/>
                <a:sym typeface="Roboto"/>
              </a:rPr>
              <a:t>Keywords</a:t>
            </a:r>
          </a:p>
        </p:txBody>
      </p:sp>
      <p:sp>
        <p:nvSpPr>
          <p:cNvPr name="TextBox 23" id="23"/>
          <p:cNvSpPr txBox="true"/>
          <p:nvPr/>
        </p:nvSpPr>
        <p:spPr>
          <a:xfrm rot="0">
            <a:off x="936724" y="8192381"/>
            <a:ext cx="16597979" cy="1455480"/>
          </a:xfrm>
          <a:prstGeom prst="rect">
            <a:avLst/>
          </a:prstGeom>
        </p:spPr>
        <p:txBody>
          <a:bodyPr anchor="t" rtlCol="false" tIns="0" lIns="0" bIns="0" rIns="0">
            <a:spAutoFit/>
          </a:bodyPr>
          <a:lstStyle/>
          <a:p>
            <a:pPr algn="l">
              <a:lnSpc>
                <a:spcPts val="3937"/>
              </a:lnSpc>
            </a:pPr>
            <a:r>
              <a:rPr lang="en-US" sz="2062">
                <a:solidFill>
                  <a:srgbClr val="CFD0D8"/>
                </a:solidFill>
                <a:latin typeface="Roboto"/>
                <a:ea typeface="Roboto"/>
                <a:cs typeface="Roboto"/>
                <a:sym typeface="Roboto"/>
              </a:rPr>
              <a:t>The pipeline processes raw audio through six sequential stages, leveraging state-of-the-art models at each step. Audio preprocessing ensures quality input, Whisper provides accurate transcription, Sentence-BERT embeddings enable semantic segmentation, and downstream NLP models extract meaningful insights.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9507200" cy="10972800"/>
          </a:xfrm>
        </p:grpSpPr>
        <p:sp>
          <p:nvSpPr>
            <p:cNvPr name="Freeform 3" id="3"/>
            <p:cNvSpPr/>
            <p:nvPr/>
          </p:nvSpPr>
          <p:spPr>
            <a:xfrm flipH="false" flipV="false" rot="0">
              <a:off x="0" y="0"/>
              <a:ext cx="19507200" cy="10972800"/>
            </a:xfrm>
            <a:custGeom>
              <a:avLst/>
              <a:gdLst/>
              <a:ahLst/>
              <a:cxnLst/>
              <a:rect r="r" b="b" t="t" l="l"/>
              <a:pathLst>
                <a:path h="10972800" w="19507200">
                  <a:moveTo>
                    <a:pt x="0" y="0"/>
                  </a:moveTo>
                  <a:lnTo>
                    <a:pt x="19507200" y="0"/>
                  </a:lnTo>
                  <a:lnTo>
                    <a:pt x="19507200" y="10972800"/>
                  </a:lnTo>
                  <a:lnTo>
                    <a:pt x="0" y="10972800"/>
                  </a:lnTo>
                  <a:lnTo>
                    <a:pt x="0" y="0"/>
                  </a:lnTo>
                  <a:close/>
                </a:path>
              </a:pathLst>
            </a:custGeom>
            <a:blipFill>
              <a:blip r:embed="rId2"/>
              <a:stretch>
                <a:fillRect l="0" t="0" r="0" b="0"/>
              </a:stretch>
            </a:blipFill>
          </p:spPr>
        </p:sp>
      </p:grpSp>
      <p:sp>
        <p:nvSpPr>
          <p:cNvPr name="Freeform 4" id="4"/>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992243" y="1761351"/>
            <a:ext cx="6038171" cy="957060"/>
          </a:xfrm>
          <a:prstGeom prst="rect">
            <a:avLst/>
          </a:prstGeom>
        </p:spPr>
        <p:txBody>
          <a:bodyPr anchor="t" rtlCol="false" tIns="0" lIns="0" bIns="0" rIns="0">
            <a:spAutoFit/>
          </a:bodyPr>
          <a:lstStyle/>
          <a:p>
            <a:pPr algn="l">
              <a:lnSpc>
                <a:spcPts val="7787"/>
              </a:lnSpc>
            </a:pPr>
            <a:r>
              <a:rPr lang="en-US" sz="5562">
                <a:solidFill>
                  <a:srgbClr val="FFFFFF"/>
                </a:solidFill>
                <a:latin typeface="Roboto"/>
                <a:ea typeface="Roboto"/>
                <a:cs typeface="Roboto"/>
                <a:sym typeface="Roboto"/>
              </a:rPr>
              <a:t>Dataset and Scope</a:t>
            </a:r>
          </a:p>
        </p:txBody>
      </p:sp>
      <p:sp>
        <p:nvSpPr>
          <p:cNvPr name="TextBox 6" id="6"/>
          <p:cNvSpPr txBox="true"/>
          <p:nvPr/>
        </p:nvSpPr>
        <p:spPr>
          <a:xfrm rot="0">
            <a:off x="3063931" y="3958340"/>
            <a:ext cx="1064704" cy="631650"/>
          </a:xfrm>
          <a:prstGeom prst="rect">
            <a:avLst/>
          </a:prstGeom>
        </p:spPr>
        <p:txBody>
          <a:bodyPr anchor="t" rtlCol="false" tIns="0" lIns="0" bIns="0" rIns="0">
            <a:spAutoFit/>
          </a:bodyPr>
          <a:lstStyle/>
          <a:p>
            <a:pPr algn="l">
              <a:lnSpc>
                <a:spcPts val="3656"/>
              </a:lnSpc>
            </a:pPr>
            <a:r>
              <a:rPr lang="en-US" sz="7312">
                <a:solidFill>
                  <a:srgbClr val="CFD0D8"/>
                </a:solidFill>
                <a:latin typeface="Roboto"/>
                <a:ea typeface="Roboto"/>
                <a:cs typeface="Roboto"/>
                <a:sym typeface="Roboto"/>
              </a:rPr>
              <a:t>12</a:t>
            </a:r>
          </a:p>
        </p:txBody>
      </p:sp>
      <p:sp>
        <p:nvSpPr>
          <p:cNvPr name="TextBox 7" id="7"/>
          <p:cNvSpPr txBox="true"/>
          <p:nvPr/>
        </p:nvSpPr>
        <p:spPr>
          <a:xfrm rot="0">
            <a:off x="3377696" y="4387929"/>
            <a:ext cx="88368" cy="769072"/>
          </a:xfrm>
          <a:prstGeom prst="rect">
            <a:avLst/>
          </a:prstGeom>
        </p:spPr>
        <p:txBody>
          <a:bodyPr anchor="t" rtlCol="false" tIns="0" lIns="0" bIns="0" rIns="0">
            <a:spAutoFit/>
          </a:bodyPr>
          <a:lstStyle/>
          <a:p>
            <a:pPr algn="l">
              <a:lnSpc>
                <a:spcPts val="6875"/>
              </a:lnSpc>
            </a:pPr>
            <a:r>
              <a:rPr lang="en-US" sz="2750">
                <a:solidFill>
                  <a:srgbClr val="CFD0D8"/>
                </a:solidFill>
                <a:latin typeface="Roboto"/>
                <a:ea typeface="Roboto"/>
                <a:cs typeface="Roboto"/>
                <a:sym typeface="Roboto"/>
              </a:rPr>
              <a:t> </a:t>
            </a:r>
          </a:p>
        </p:txBody>
      </p:sp>
      <p:sp>
        <p:nvSpPr>
          <p:cNvPr name="TextBox 8" id="8"/>
          <p:cNvSpPr txBox="true"/>
          <p:nvPr/>
        </p:nvSpPr>
        <p:spPr>
          <a:xfrm rot="0">
            <a:off x="8122003" y="3958340"/>
            <a:ext cx="2056174" cy="1204770"/>
          </a:xfrm>
          <a:prstGeom prst="rect">
            <a:avLst/>
          </a:prstGeom>
        </p:spPr>
        <p:txBody>
          <a:bodyPr anchor="t" rtlCol="false" tIns="0" lIns="0" bIns="0" rIns="0">
            <a:spAutoFit/>
          </a:bodyPr>
          <a:lstStyle/>
          <a:p>
            <a:pPr algn="ctr">
              <a:lnSpc>
                <a:spcPts val="3656"/>
              </a:lnSpc>
            </a:pPr>
            <a:r>
              <a:rPr lang="en-US" sz="7312">
                <a:solidFill>
                  <a:srgbClr val="CFD0D8"/>
                </a:solidFill>
                <a:latin typeface="Roboto"/>
                <a:ea typeface="Roboto"/>
                <a:cs typeface="Roboto"/>
                <a:sym typeface="Roboto"/>
              </a:rPr>
              <a:t>30</a:t>
            </a:r>
          </a:p>
          <a:p>
            <a:pPr algn="ctr">
              <a:lnSpc>
                <a:spcPts val="6875"/>
              </a:lnSpc>
            </a:pPr>
            <a:r>
              <a:rPr lang="en-US" sz="2750">
                <a:solidFill>
                  <a:srgbClr val="CFD0D8"/>
                </a:solidFill>
                <a:latin typeface="Roboto"/>
                <a:ea typeface="Roboto"/>
                <a:cs typeface="Roboto"/>
                <a:sym typeface="Roboto"/>
              </a:rPr>
              <a:t>Avg. Minutes</a:t>
            </a:r>
          </a:p>
        </p:txBody>
      </p:sp>
      <p:sp>
        <p:nvSpPr>
          <p:cNvPr name="TextBox 9" id="9"/>
          <p:cNvSpPr txBox="true"/>
          <p:nvPr/>
        </p:nvSpPr>
        <p:spPr>
          <a:xfrm rot="0">
            <a:off x="8245650" y="5375624"/>
            <a:ext cx="70294" cy="302847"/>
          </a:xfrm>
          <a:prstGeom prst="rect">
            <a:avLst/>
          </a:prstGeom>
        </p:spPr>
        <p:txBody>
          <a:bodyPr anchor="t" rtlCol="false" tIns="0" lIns="0" bIns="0" rIns="0">
            <a:spAutoFit/>
          </a:bodyPr>
          <a:lstStyle/>
          <a:p>
            <a:pPr algn="l">
              <a:lnSpc>
                <a:spcPts val="2215"/>
              </a:lnSpc>
            </a:pPr>
            <a:r>
              <a:rPr lang="en-US" sz="2187">
                <a:solidFill>
                  <a:srgbClr val="CFD0D8"/>
                </a:solidFill>
                <a:latin typeface="Roboto"/>
                <a:ea typeface="Roboto"/>
                <a:cs typeface="Roboto"/>
                <a:sym typeface="Roboto"/>
              </a:rPr>
              <a:t> </a:t>
            </a:r>
          </a:p>
        </p:txBody>
      </p:sp>
      <p:sp>
        <p:nvSpPr>
          <p:cNvPr name="TextBox 10" id="10"/>
          <p:cNvSpPr txBox="true"/>
          <p:nvPr/>
        </p:nvSpPr>
        <p:spPr>
          <a:xfrm rot="0">
            <a:off x="13490531" y="3329690"/>
            <a:ext cx="2449580" cy="2355652"/>
          </a:xfrm>
          <a:prstGeom prst="rect">
            <a:avLst/>
          </a:prstGeom>
        </p:spPr>
        <p:txBody>
          <a:bodyPr anchor="t" rtlCol="false" tIns="0" lIns="0" bIns="0" rIns="0">
            <a:spAutoFit/>
          </a:bodyPr>
          <a:lstStyle/>
          <a:p>
            <a:pPr algn="ctr">
              <a:lnSpc>
                <a:spcPts val="10237"/>
              </a:lnSpc>
            </a:pPr>
            <a:r>
              <a:rPr lang="en-US" sz="7312">
                <a:solidFill>
                  <a:srgbClr val="CFD0D8"/>
                </a:solidFill>
                <a:latin typeface="Roboto"/>
                <a:ea typeface="Roboto"/>
                <a:cs typeface="Roboto"/>
                <a:sym typeface="Roboto"/>
              </a:rPr>
              <a:t>6</a:t>
            </a:r>
          </a:p>
          <a:p>
            <a:pPr algn="ctr">
              <a:lnSpc>
                <a:spcPts val="3850"/>
              </a:lnSpc>
            </a:pPr>
            <a:r>
              <a:rPr lang="en-US" sz="2750">
                <a:solidFill>
                  <a:srgbClr val="CFD0D8"/>
                </a:solidFill>
                <a:latin typeface="Roboto"/>
                <a:ea typeface="Roboto"/>
                <a:cs typeface="Roboto"/>
                <a:sym typeface="Roboto"/>
              </a:rPr>
              <a:t>Total Hours</a:t>
            </a:r>
          </a:p>
          <a:p>
            <a:pPr algn="ctr">
              <a:lnSpc>
                <a:spcPts val="3062"/>
              </a:lnSpc>
            </a:pPr>
            <a:r>
              <a:rPr lang="en-US" sz="2187">
                <a:solidFill>
                  <a:srgbClr val="CFD0D8"/>
                </a:solidFill>
                <a:latin typeface="Roboto"/>
                <a:ea typeface="Roboto"/>
                <a:cs typeface="Roboto"/>
                <a:sym typeface="Roboto"/>
              </a:rPr>
              <a:t>Of audio processed</a:t>
            </a:r>
          </a:p>
        </p:txBody>
      </p:sp>
      <p:sp>
        <p:nvSpPr>
          <p:cNvPr name="TextBox 11" id="11"/>
          <p:cNvSpPr txBox="true"/>
          <p:nvPr/>
        </p:nvSpPr>
        <p:spPr>
          <a:xfrm rot="0">
            <a:off x="992243" y="6165533"/>
            <a:ext cx="15601867" cy="2356009"/>
          </a:xfrm>
          <a:prstGeom prst="rect">
            <a:avLst/>
          </a:prstGeom>
        </p:spPr>
        <p:txBody>
          <a:bodyPr anchor="t" rtlCol="false" tIns="0" lIns="0" bIns="0" rIns="0">
            <a:spAutoFit/>
          </a:bodyPr>
          <a:lstStyle/>
          <a:p>
            <a:pPr algn="l">
              <a:lnSpc>
                <a:spcPts val="3850"/>
              </a:lnSpc>
            </a:pPr>
            <a:r>
              <a:rPr lang="en-US" sz="2750">
                <a:solidFill>
                  <a:srgbClr val="FFFFFF"/>
                </a:solidFill>
                <a:latin typeface="Roboto"/>
                <a:ea typeface="Roboto"/>
                <a:cs typeface="Roboto"/>
                <a:sym typeface="Roboto"/>
              </a:rPr>
              <a:t>Data Characteristics</a:t>
            </a:r>
          </a:p>
          <a:p>
            <a:pPr algn="l">
              <a:lnSpc>
                <a:spcPts val="4311"/>
              </a:lnSpc>
            </a:pPr>
            <a:r>
              <a:rPr lang="en-US" sz="2187">
                <a:solidFill>
                  <a:srgbClr val="CFD0D8"/>
                </a:solidFill>
                <a:latin typeface="Roboto"/>
                <a:ea typeface="Roboto"/>
                <a:cs typeface="Roboto"/>
                <a:sym typeface="Roboto"/>
              </a:rPr>
              <a:t>All podcast episodes were sourced from publicly available Kaggle datasets, ensuring diverse content including interviews, educational content, and storytelling formats. Audio quality ranges from professional studio recordings to remote interviews, providing realistic testing conditions for robustness evaluation.</a:t>
            </a:r>
          </a:p>
        </p:txBody>
      </p:sp>
      <p:sp>
        <p:nvSpPr>
          <p:cNvPr name="TextBox 12" id="12"/>
          <p:cNvSpPr txBox="true"/>
          <p:nvPr/>
        </p:nvSpPr>
        <p:spPr>
          <a:xfrm rot="0">
            <a:off x="2247900" y="4673679"/>
            <a:ext cx="2731651" cy="483322"/>
          </a:xfrm>
          <a:prstGeom prst="rect">
            <a:avLst/>
          </a:prstGeom>
        </p:spPr>
        <p:txBody>
          <a:bodyPr anchor="t" rtlCol="false" tIns="0" lIns="0" bIns="0" rIns="0">
            <a:spAutoFit/>
          </a:bodyPr>
          <a:lstStyle/>
          <a:p>
            <a:pPr algn="l">
              <a:lnSpc>
                <a:spcPts val="3850"/>
              </a:lnSpc>
            </a:pPr>
            <a:r>
              <a:rPr lang="en-US" sz="2750">
                <a:solidFill>
                  <a:srgbClr val="CFD0D8"/>
                </a:solidFill>
                <a:latin typeface="Roboto"/>
                <a:ea typeface="Roboto"/>
                <a:cs typeface="Roboto"/>
                <a:sym typeface="Roboto"/>
              </a:rPr>
              <a:t>English</a:t>
            </a:r>
            <a:r>
              <a:rPr lang="en-US" sz="2750">
                <a:solidFill>
                  <a:srgbClr val="FFFFFF"/>
                </a:solidFill>
                <a:latin typeface="Roboto"/>
                <a:ea typeface="Roboto"/>
                <a:cs typeface="Roboto"/>
                <a:sym typeface="Roboto"/>
              </a:rPr>
              <a:t> </a:t>
            </a:r>
            <a:r>
              <a:rPr lang="en-US" sz="2750">
                <a:solidFill>
                  <a:srgbClr val="CFD0D8"/>
                </a:solidFill>
                <a:latin typeface="Roboto"/>
                <a:ea typeface="Roboto"/>
                <a:cs typeface="Roboto"/>
                <a:sym typeface="Roboto"/>
              </a:rPr>
              <a:t>Podcasts</a:t>
            </a:r>
          </a:p>
        </p:txBody>
      </p:sp>
      <p:sp>
        <p:nvSpPr>
          <p:cNvPr name="TextBox 13" id="13"/>
          <p:cNvSpPr txBox="true"/>
          <p:nvPr/>
        </p:nvSpPr>
        <p:spPr>
          <a:xfrm rot="0">
            <a:off x="1861399" y="5299424"/>
            <a:ext cx="3531179" cy="379047"/>
          </a:xfrm>
          <a:prstGeom prst="rect">
            <a:avLst/>
          </a:prstGeom>
        </p:spPr>
        <p:txBody>
          <a:bodyPr anchor="t" rtlCol="false" tIns="0" lIns="0" bIns="0" rIns="0">
            <a:spAutoFit/>
          </a:bodyPr>
          <a:lstStyle/>
          <a:p>
            <a:pPr algn="l">
              <a:lnSpc>
                <a:spcPts val="3062"/>
              </a:lnSpc>
            </a:pPr>
            <a:r>
              <a:rPr lang="en-US" sz="2187">
                <a:solidFill>
                  <a:srgbClr val="CFD0D8"/>
                </a:solidFill>
                <a:latin typeface="Roboto"/>
                <a:ea typeface="Roboto"/>
                <a:cs typeface="Roboto"/>
                <a:sym typeface="Roboto"/>
              </a:rPr>
              <a:t>Diverse</a:t>
            </a:r>
            <a:r>
              <a:rPr lang="en-US" sz="2187">
                <a:solidFill>
                  <a:srgbClr val="FFFFFF"/>
                </a:solidFill>
                <a:latin typeface="Roboto"/>
                <a:ea typeface="Roboto"/>
                <a:cs typeface="Roboto"/>
                <a:sym typeface="Roboto"/>
              </a:rPr>
              <a:t> </a:t>
            </a:r>
            <a:r>
              <a:rPr lang="en-US" sz="2187">
                <a:solidFill>
                  <a:srgbClr val="CFD0D8"/>
                </a:solidFill>
                <a:latin typeface="Roboto"/>
                <a:ea typeface="Roboto"/>
                <a:cs typeface="Roboto"/>
                <a:sym typeface="Roboto"/>
              </a:rPr>
              <a:t>topics</a:t>
            </a:r>
            <a:r>
              <a:rPr lang="en-US" sz="2187">
                <a:solidFill>
                  <a:srgbClr val="FFFFFF"/>
                </a:solidFill>
                <a:latin typeface="Roboto"/>
                <a:ea typeface="Roboto"/>
                <a:cs typeface="Roboto"/>
                <a:sym typeface="Roboto"/>
              </a:rPr>
              <a:t> </a:t>
            </a:r>
            <a:r>
              <a:rPr lang="en-US" sz="2187">
                <a:solidFill>
                  <a:srgbClr val="CFD0D8"/>
                </a:solidFill>
                <a:latin typeface="Roboto"/>
                <a:ea typeface="Roboto"/>
                <a:cs typeface="Roboto"/>
                <a:sym typeface="Roboto"/>
              </a:rPr>
              <a:t>and</a:t>
            </a:r>
            <a:r>
              <a:rPr lang="en-US" sz="2187">
                <a:solidFill>
                  <a:srgbClr val="FFFFFF"/>
                </a:solidFill>
                <a:latin typeface="Roboto"/>
                <a:ea typeface="Roboto"/>
                <a:cs typeface="Roboto"/>
                <a:sym typeface="Roboto"/>
              </a:rPr>
              <a:t> </a:t>
            </a:r>
            <a:r>
              <a:rPr lang="en-US" sz="2187">
                <a:solidFill>
                  <a:srgbClr val="CFD0D8"/>
                </a:solidFill>
                <a:latin typeface="Roboto"/>
                <a:ea typeface="Roboto"/>
                <a:cs typeface="Roboto"/>
                <a:sym typeface="Roboto"/>
              </a:rPr>
              <a:t>speakers</a:t>
            </a:r>
          </a:p>
        </p:txBody>
      </p:sp>
      <p:sp>
        <p:nvSpPr>
          <p:cNvPr name="TextBox 14" id="14"/>
          <p:cNvSpPr txBox="true"/>
          <p:nvPr/>
        </p:nvSpPr>
        <p:spPr>
          <a:xfrm rot="0">
            <a:off x="7830741" y="5299424"/>
            <a:ext cx="2675811" cy="379047"/>
          </a:xfrm>
          <a:prstGeom prst="rect">
            <a:avLst/>
          </a:prstGeom>
        </p:spPr>
        <p:txBody>
          <a:bodyPr anchor="t" rtlCol="false" tIns="0" lIns="0" bIns="0" rIns="0">
            <a:spAutoFit/>
          </a:bodyPr>
          <a:lstStyle/>
          <a:p>
            <a:pPr algn="l">
              <a:lnSpc>
                <a:spcPts val="3062"/>
              </a:lnSpc>
            </a:pPr>
            <a:r>
              <a:rPr lang="en-US" sz="2187">
                <a:solidFill>
                  <a:srgbClr val="CFD0D8"/>
                </a:solidFill>
                <a:latin typeface="Roboto"/>
                <a:ea typeface="Roboto"/>
                <a:cs typeface="Roboto"/>
                <a:sym typeface="Roboto"/>
              </a:rPr>
              <a:t>Per</a:t>
            </a:r>
            <a:r>
              <a:rPr lang="en-US" sz="2187">
                <a:solidFill>
                  <a:srgbClr val="FFFFFF"/>
                </a:solidFill>
                <a:latin typeface="Roboto"/>
                <a:ea typeface="Roboto"/>
                <a:cs typeface="Roboto"/>
                <a:sym typeface="Roboto"/>
              </a:rPr>
              <a:t> </a:t>
            </a:r>
            <a:r>
              <a:rPr lang="en-US" sz="2187">
                <a:solidFill>
                  <a:srgbClr val="CFD0D8"/>
                </a:solidFill>
                <a:latin typeface="Roboto"/>
                <a:ea typeface="Roboto"/>
                <a:cs typeface="Roboto"/>
                <a:sym typeface="Roboto"/>
              </a:rPr>
              <a:t>episode</a:t>
            </a:r>
            <a:r>
              <a:rPr lang="en-US" sz="2187">
                <a:solidFill>
                  <a:srgbClr val="FFFFFF"/>
                </a:solidFill>
                <a:latin typeface="Roboto"/>
                <a:ea typeface="Roboto"/>
                <a:cs typeface="Roboto"/>
                <a:sym typeface="Roboto"/>
              </a:rPr>
              <a:t> </a:t>
            </a:r>
            <a:r>
              <a:rPr lang="en-US" sz="2187">
                <a:solidFill>
                  <a:srgbClr val="CFD0D8"/>
                </a:solidFill>
                <a:latin typeface="Roboto"/>
                <a:ea typeface="Roboto"/>
                <a:cs typeface="Roboto"/>
                <a:sym typeface="Roboto"/>
              </a:rPr>
              <a:t>analyzed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9507200" cy="10972800"/>
          </a:xfrm>
        </p:grpSpPr>
        <p:sp>
          <p:nvSpPr>
            <p:cNvPr name="Freeform 3" id="3"/>
            <p:cNvSpPr/>
            <p:nvPr/>
          </p:nvSpPr>
          <p:spPr>
            <a:xfrm flipH="false" flipV="false" rot="0">
              <a:off x="0" y="0"/>
              <a:ext cx="19507200" cy="10972800"/>
            </a:xfrm>
            <a:custGeom>
              <a:avLst/>
              <a:gdLst/>
              <a:ahLst/>
              <a:cxnLst/>
              <a:rect r="r" b="b" t="t" l="l"/>
              <a:pathLst>
                <a:path h="10972800" w="19507200">
                  <a:moveTo>
                    <a:pt x="0" y="0"/>
                  </a:moveTo>
                  <a:lnTo>
                    <a:pt x="19507200" y="0"/>
                  </a:lnTo>
                  <a:lnTo>
                    <a:pt x="19507200" y="10972800"/>
                  </a:lnTo>
                  <a:lnTo>
                    <a:pt x="0" y="10972800"/>
                  </a:lnTo>
                  <a:lnTo>
                    <a:pt x="0" y="0"/>
                  </a:lnTo>
                  <a:close/>
                </a:path>
              </a:pathLst>
            </a:custGeom>
            <a:blipFill>
              <a:blip r:embed="rId2"/>
              <a:stretch>
                <a:fillRect l="0" t="0" r="0" b="0"/>
              </a:stretch>
            </a:blipFill>
          </p:spPr>
        </p:sp>
      </p:grpSp>
      <p:sp>
        <p:nvSpPr>
          <p:cNvPr name="Freeform 4" id="4"/>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992243" y="3300710"/>
            <a:ext cx="1104900" cy="1104900"/>
            <a:chOff x="0" y="0"/>
            <a:chExt cx="1178560" cy="1178560"/>
          </a:xfrm>
        </p:grpSpPr>
        <p:sp>
          <p:nvSpPr>
            <p:cNvPr name="Freeform 6" id="6"/>
            <p:cNvSpPr/>
            <p:nvPr/>
          </p:nvSpPr>
          <p:spPr>
            <a:xfrm flipH="false" flipV="false" rot="0">
              <a:off x="0" y="0"/>
              <a:ext cx="1178560" cy="1178560"/>
            </a:xfrm>
            <a:custGeom>
              <a:avLst/>
              <a:gdLst/>
              <a:ahLst/>
              <a:cxnLst/>
              <a:rect r="r" b="b" t="t" l="l"/>
              <a:pathLst>
                <a:path h="1178560" w="1178560">
                  <a:moveTo>
                    <a:pt x="0" y="0"/>
                  </a:moveTo>
                  <a:lnTo>
                    <a:pt x="1178560" y="0"/>
                  </a:lnTo>
                  <a:lnTo>
                    <a:pt x="1178560" y="1178560"/>
                  </a:lnTo>
                  <a:lnTo>
                    <a:pt x="0" y="1178560"/>
                  </a:lnTo>
                  <a:lnTo>
                    <a:pt x="0" y="0"/>
                  </a:lnTo>
                  <a:close/>
                </a:path>
              </a:pathLst>
            </a:custGeom>
            <a:blipFill>
              <a:blip r:embed="rId5"/>
              <a:stretch>
                <a:fillRect l="0" t="0" r="0" b="0"/>
              </a:stretch>
            </a:blipFill>
          </p:spPr>
        </p:sp>
      </p:grpSp>
      <p:grpSp>
        <p:nvGrpSpPr>
          <p:cNvPr name="Group 7" id="7"/>
          <p:cNvGrpSpPr/>
          <p:nvPr/>
        </p:nvGrpSpPr>
        <p:grpSpPr>
          <a:xfrm rot="0">
            <a:off x="5156597" y="3300710"/>
            <a:ext cx="1104900" cy="1104900"/>
            <a:chOff x="0" y="0"/>
            <a:chExt cx="1178560" cy="1178560"/>
          </a:xfrm>
        </p:grpSpPr>
        <p:sp>
          <p:nvSpPr>
            <p:cNvPr name="Freeform 8" id="8"/>
            <p:cNvSpPr/>
            <p:nvPr/>
          </p:nvSpPr>
          <p:spPr>
            <a:xfrm flipH="false" flipV="false" rot="0">
              <a:off x="0" y="0"/>
              <a:ext cx="1178560" cy="1178560"/>
            </a:xfrm>
            <a:custGeom>
              <a:avLst/>
              <a:gdLst/>
              <a:ahLst/>
              <a:cxnLst/>
              <a:rect r="r" b="b" t="t" l="l"/>
              <a:pathLst>
                <a:path h="1178560" w="1178560">
                  <a:moveTo>
                    <a:pt x="0" y="0"/>
                  </a:moveTo>
                  <a:lnTo>
                    <a:pt x="1178560" y="0"/>
                  </a:lnTo>
                  <a:lnTo>
                    <a:pt x="1178560" y="1178560"/>
                  </a:lnTo>
                  <a:lnTo>
                    <a:pt x="0" y="1178560"/>
                  </a:lnTo>
                  <a:lnTo>
                    <a:pt x="0" y="0"/>
                  </a:lnTo>
                  <a:close/>
                </a:path>
              </a:pathLst>
            </a:custGeom>
            <a:blipFill>
              <a:blip r:embed="rId6"/>
              <a:stretch>
                <a:fillRect l="0" t="0" r="0" b="0"/>
              </a:stretch>
            </a:blipFill>
          </p:spPr>
        </p:sp>
      </p:grpSp>
      <p:grpSp>
        <p:nvGrpSpPr>
          <p:cNvPr name="Group 9" id="9"/>
          <p:cNvGrpSpPr/>
          <p:nvPr/>
        </p:nvGrpSpPr>
        <p:grpSpPr>
          <a:xfrm rot="0">
            <a:off x="9321105" y="3300710"/>
            <a:ext cx="1104900" cy="1104900"/>
            <a:chOff x="0" y="0"/>
            <a:chExt cx="1178560" cy="1178560"/>
          </a:xfrm>
        </p:grpSpPr>
        <p:sp>
          <p:nvSpPr>
            <p:cNvPr name="Freeform 10" id="10"/>
            <p:cNvSpPr/>
            <p:nvPr/>
          </p:nvSpPr>
          <p:spPr>
            <a:xfrm flipH="false" flipV="false" rot="0">
              <a:off x="0" y="0"/>
              <a:ext cx="1178560" cy="1178560"/>
            </a:xfrm>
            <a:custGeom>
              <a:avLst/>
              <a:gdLst/>
              <a:ahLst/>
              <a:cxnLst/>
              <a:rect r="r" b="b" t="t" l="l"/>
              <a:pathLst>
                <a:path h="1178560" w="1178560">
                  <a:moveTo>
                    <a:pt x="0" y="0"/>
                  </a:moveTo>
                  <a:lnTo>
                    <a:pt x="1178560" y="0"/>
                  </a:lnTo>
                  <a:lnTo>
                    <a:pt x="1178560" y="1178560"/>
                  </a:lnTo>
                  <a:lnTo>
                    <a:pt x="0" y="1178560"/>
                  </a:lnTo>
                  <a:lnTo>
                    <a:pt x="0" y="0"/>
                  </a:lnTo>
                  <a:close/>
                </a:path>
              </a:pathLst>
            </a:custGeom>
            <a:blipFill>
              <a:blip r:embed="rId7"/>
              <a:stretch>
                <a:fillRect l="0" t="0" r="0" b="0"/>
              </a:stretch>
            </a:blipFill>
          </p:spPr>
        </p:sp>
      </p:grpSp>
      <p:grpSp>
        <p:nvGrpSpPr>
          <p:cNvPr name="Group 11" id="11"/>
          <p:cNvGrpSpPr/>
          <p:nvPr/>
        </p:nvGrpSpPr>
        <p:grpSpPr>
          <a:xfrm rot="0">
            <a:off x="13485614" y="3300710"/>
            <a:ext cx="1104900" cy="1104900"/>
            <a:chOff x="0" y="0"/>
            <a:chExt cx="1178560" cy="1178560"/>
          </a:xfrm>
        </p:grpSpPr>
        <p:sp>
          <p:nvSpPr>
            <p:cNvPr name="Freeform 12" id="12"/>
            <p:cNvSpPr/>
            <p:nvPr/>
          </p:nvSpPr>
          <p:spPr>
            <a:xfrm flipH="false" flipV="false" rot="0">
              <a:off x="0" y="0"/>
              <a:ext cx="1178560" cy="1178560"/>
            </a:xfrm>
            <a:custGeom>
              <a:avLst/>
              <a:gdLst/>
              <a:ahLst/>
              <a:cxnLst/>
              <a:rect r="r" b="b" t="t" l="l"/>
              <a:pathLst>
                <a:path h="1178560" w="1178560">
                  <a:moveTo>
                    <a:pt x="0" y="0"/>
                  </a:moveTo>
                  <a:lnTo>
                    <a:pt x="1178560" y="0"/>
                  </a:lnTo>
                  <a:lnTo>
                    <a:pt x="1178560" y="1178560"/>
                  </a:lnTo>
                  <a:lnTo>
                    <a:pt x="0" y="1178560"/>
                  </a:lnTo>
                  <a:lnTo>
                    <a:pt x="0" y="0"/>
                  </a:lnTo>
                  <a:close/>
                </a:path>
              </a:pathLst>
            </a:custGeom>
            <a:blipFill>
              <a:blip r:embed="rId8"/>
              <a:stretch>
                <a:fillRect l="0" t="0" r="0" b="0"/>
              </a:stretch>
            </a:blipFill>
          </p:spPr>
        </p:sp>
      </p:grpSp>
      <p:sp>
        <p:nvSpPr>
          <p:cNvPr name="TextBox 13" id="13"/>
          <p:cNvSpPr txBox="true"/>
          <p:nvPr/>
        </p:nvSpPr>
        <p:spPr>
          <a:xfrm rot="0">
            <a:off x="992243" y="1768197"/>
            <a:ext cx="11715000" cy="957060"/>
          </a:xfrm>
          <a:prstGeom prst="rect">
            <a:avLst/>
          </a:prstGeom>
        </p:spPr>
        <p:txBody>
          <a:bodyPr anchor="t" rtlCol="false" tIns="0" lIns="0" bIns="0" rIns="0">
            <a:spAutoFit/>
          </a:bodyPr>
          <a:lstStyle/>
          <a:p>
            <a:pPr algn="l">
              <a:lnSpc>
                <a:spcPts val="7787"/>
              </a:lnSpc>
            </a:pPr>
            <a:r>
              <a:rPr lang="en-US" sz="5562">
                <a:solidFill>
                  <a:srgbClr val="FFFFFF"/>
                </a:solidFill>
                <a:latin typeface="Roboto"/>
                <a:ea typeface="Roboto"/>
                <a:cs typeface="Roboto"/>
                <a:sym typeface="Roboto"/>
              </a:rPr>
              <a:t>Core Technologies and Methodology</a:t>
            </a:r>
          </a:p>
        </p:txBody>
      </p:sp>
      <p:sp>
        <p:nvSpPr>
          <p:cNvPr name="TextBox 14" id="14"/>
          <p:cNvSpPr txBox="true"/>
          <p:nvPr/>
        </p:nvSpPr>
        <p:spPr>
          <a:xfrm rot="0">
            <a:off x="2451497" y="3249097"/>
            <a:ext cx="2312980" cy="5387042"/>
          </a:xfrm>
          <a:prstGeom prst="rect">
            <a:avLst/>
          </a:prstGeom>
        </p:spPr>
        <p:txBody>
          <a:bodyPr anchor="t" rtlCol="false" tIns="0" lIns="0" bIns="0" rIns="0">
            <a:spAutoFit/>
          </a:bodyPr>
          <a:lstStyle/>
          <a:p>
            <a:pPr algn="l">
              <a:lnSpc>
                <a:spcPts val="3850"/>
              </a:lnSpc>
            </a:pPr>
            <a:r>
              <a:rPr lang="en-US" sz="2750">
                <a:solidFill>
                  <a:srgbClr val="CFD0D8"/>
                </a:solidFill>
                <a:latin typeface="Roboto"/>
                <a:ea typeface="Roboto"/>
                <a:cs typeface="Roboto"/>
                <a:sym typeface="Roboto"/>
              </a:rPr>
              <a:t>Whisper ASR</a:t>
            </a:r>
          </a:p>
          <a:p>
            <a:pPr algn="l">
              <a:lnSpc>
                <a:spcPts val="4311"/>
              </a:lnSpc>
            </a:pPr>
            <a:r>
              <a:rPr lang="en-US" sz="2187">
                <a:solidFill>
                  <a:srgbClr val="CFD0D8"/>
                </a:solidFill>
                <a:latin typeface="Roboto"/>
                <a:ea typeface="Roboto"/>
                <a:cs typeface="Roboto"/>
                <a:sym typeface="Roboto"/>
              </a:rPr>
              <a:t>OpenAI's robust multilingual speech recognition model for accurate transcription, trained on 680,000 hours of labeled audio data</a:t>
            </a:r>
          </a:p>
        </p:txBody>
      </p:sp>
      <p:sp>
        <p:nvSpPr>
          <p:cNvPr name="TextBox 15" id="15"/>
          <p:cNvSpPr txBox="true"/>
          <p:nvPr/>
        </p:nvSpPr>
        <p:spPr>
          <a:xfrm rot="0">
            <a:off x="6615851" y="3220522"/>
            <a:ext cx="2049089" cy="5310842"/>
          </a:xfrm>
          <a:prstGeom prst="rect">
            <a:avLst/>
          </a:prstGeom>
        </p:spPr>
        <p:txBody>
          <a:bodyPr anchor="t" rtlCol="false" tIns="0" lIns="0" bIns="0" rIns="0">
            <a:spAutoFit/>
          </a:bodyPr>
          <a:lstStyle/>
          <a:p>
            <a:pPr algn="l">
              <a:lnSpc>
                <a:spcPts val="4125"/>
              </a:lnSpc>
            </a:pPr>
            <a:r>
              <a:rPr lang="en-US" sz="2750">
                <a:solidFill>
                  <a:srgbClr val="CFD0D8"/>
                </a:solidFill>
                <a:latin typeface="Roboto"/>
                <a:ea typeface="Roboto"/>
                <a:cs typeface="Roboto"/>
                <a:sym typeface="Roboto"/>
              </a:rPr>
              <a:t>Sentence- BERT</a:t>
            </a:r>
          </a:p>
          <a:p>
            <a:pPr algn="l">
              <a:lnSpc>
                <a:spcPts val="4311"/>
              </a:lnSpc>
            </a:pPr>
            <a:r>
              <a:rPr lang="en-US" sz="2187">
                <a:solidFill>
                  <a:srgbClr val="CFD0D8"/>
                </a:solidFill>
                <a:latin typeface="Roboto"/>
                <a:ea typeface="Roboto"/>
                <a:cs typeface="Roboto"/>
                <a:sym typeface="Roboto"/>
              </a:rPr>
              <a:t>Semantic sentence embeddings for topic boundary detection using cosine similarity across sliding windows</a:t>
            </a:r>
          </a:p>
        </p:txBody>
      </p:sp>
      <p:sp>
        <p:nvSpPr>
          <p:cNvPr name="TextBox 16" id="16"/>
          <p:cNvSpPr txBox="true"/>
          <p:nvPr/>
        </p:nvSpPr>
        <p:spPr>
          <a:xfrm rot="0">
            <a:off x="10780371" y="3220522"/>
            <a:ext cx="2132957" cy="4763155"/>
          </a:xfrm>
          <a:prstGeom prst="rect">
            <a:avLst/>
          </a:prstGeom>
        </p:spPr>
        <p:txBody>
          <a:bodyPr anchor="t" rtlCol="false" tIns="0" lIns="0" bIns="0" rIns="0">
            <a:spAutoFit/>
          </a:bodyPr>
          <a:lstStyle/>
          <a:p>
            <a:pPr algn="just">
              <a:lnSpc>
                <a:spcPts val="4125"/>
              </a:lnSpc>
            </a:pPr>
            <a:r>
              <a:rPr lang="en-US" sz="2750">
                <a:solidFill>
                  <a:srgbClr val="CFD0D8"/>
                </a:solidFill>
                <a:latin typeface="Roboto"/>
                <a:ea typeface="Roboto"/>
                <a:cs typeface="Roboto"/>
                <a:sym typeface="Roboto"/>
              </a:rPr>
              <a:t>TF-IDF Analysis</a:t>
            </a:r>
          </a:p>
          <a:p>
            <a:pPr algn="just">
              <a:lnSpc>
                <a:spcPts val="4311"/>
              </a:lnSpc>
            </a:pPr>
            <a:r>
              <a:rPr lang="en-US" sz="2187">
                <a:solidFill>
                  <a:srgbClr val="CFD0D8"/>
                </a:solidFill>
                <a:latin typeface="Roboto"/>
                <a:ea typeface="Roboto"/>
                <a:cs typeface="Roboto"/>
                <a:sym typeface="Roboto"/>
              </a:rPr>
              <a:t>Statistical keyword extraction to identify the most signiﬁcant terms within each topic segment</a:t>
            </a:r>
          </a:p>
        </p:txBody>
      </p:sp>
      <p:sp>
        <p:nvSpPr>
          <p:cNvPr name="TextBox 17" id="17"/>
          <p:cNvSpPr txBox="true"/>
          <p:nvPr/>
        </p:nvSpPr>
        <p:spPr>
          <a:xfrm rot="0">
            <a:off x="14944868" y="3220522"/>
            <a:ext cx="2270177" cy="5858530"/>
          </a:xfrm>
          <a:prstGeom prst="rect">
            <a:avLst/>
          </a:prstGeom>
        </p:spPr>
        <p:txBody>
          <a:bodyPr anchor="t" rtlCol="false" tIns="0" lIns="0" bIns="0" rIns="0">
            <a:spAutoFit/>
          </a:bodyPr>
          <a:lstStyle/>
          <a:p>
            <a:pPr algn="l">
              <a:lnSpc>
                <a:spcPts val="4125"/>
              </a:lnSpc>
            </a:pPr>
            <a:r>
              <a:rPr lang="en-US" sz="2750">
                <a:solidFill>
                  <a:srgbClr val="CFD0D8"/>
                </a:solidFill>
                <a:latin typeface="Roboto"/>
                <a:ea typeface="Roboto"/>
                <a:cs typeface="Roboto"/>
                <a:sym typeface="Roboto"/>
              </a:rPr>
              <a:t>VADER Sentiment</a:t>
            </a:r>
          </a:p>
          <a:p>
            <a:pPr algn="l">
              <a:lnSpc>
                <a:spcPts val="4311"/>
              </a:lnSpc>
            </a:pPr>
            <a:r>
              <a:rPr lang="en-US" sz="2187">
                <a:solidFill>
                  <a:srgbClr val="CFD0D8"/>
                </a:solidFill>
                <a:latin typeface="Roboto"/>
                <a:ea typeface="Roboto"/>
                <a:cs typeface="Roboto"/>
                <a:sym typeface="Roboto"/>
              </a:rPr>
              <a:t>Lexicon-based sentiment analysis optimized for social media-style conversational text, providing compound polarity scores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9507200" cy="10972800"/>
          </a:xfrm>
        </p:grpSpPr>
        <p:sp>
          <p:nvSpPr>
            <p:cNvPr name="Freeform 3" id="3"/>
            <p:cNvSpPr/>
            <p:nvPr/>
          </p:nvSpPr>
          <p:spPr>
            <a:xfrm flipH="false" flipV="false" rot="0">
              <a:off x="0" y="0"/>
              <a:ext cx="19507200" cy="10972800"/>
            </a:xfrm>
            <a:custGeom>
              <a:avLst/>
              <a:gdLst/>
              <a:ahLst/>
              <a:cxnLst/>
              <a:rect r="r" b="b" t="t" l="l"/>
              <a:pathLst>
                <a:path h="10972800" w="19507200">
                  <a:moveTo>
                    <a:pt x="0" y="0"/>
                  </a:moveTo>
                  <a:lnTo>
                    <a:pt x="19507200" y="0"/>
                  </a:lnTo>
                  <a:lnTo>
                    <a:pt x="19507200" y="10972800"/>
                  </a:lnTo>
                  <a:lnTo>
                    <a:pt x="0" y="10972800"/>
                  </a:lnTo>
                  <a:lnTo>
                    <a:pt x="0" y="0"/>
                  </a:lnTo>
                  <a:close/>
                </a:path>
              </a:pathLst>
            </a:custGeom>
            <a:blipFill>
              <a:blip r:embed="rId2"/>
              <a:stretch>
                <a:fillRect l="0" t="0" r="0" b="0"/>
              </a:stretch>
            </a:blipFill>
          </p:spPr>
        </p:sp>
      </p:grpSp>
      <p:sp>
        <p:nvSpPr>
          <p:cNvPr name="Freeform 4" id="4"/>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6049018" y="9686925"/>
            <a:ext cx="2153257" cy="514350"/>
            <a:chOff x="0" y="0"/>
            <a:chExt cx="2296808" cy="548640"/>
          </a:xfrm>
        </p:grpSpPr>
        <p:sp>
          <p:nvSpPr>
            <p:cNvPr name="Freeform 6" id="6"/>
            <p:cNvSpPr/>
            <p:nvPr/>
          </p:nvSpPr>
          <p:spPr>
            <a:xfrm flipH="false" flipV="false" rot="0">
              <a:off x="0" y="0"/>
              <a:ext cx="2296795" cy="548640"/>
            </a:xfrm>
            <a:custGeom>
              <a:avLst/>
              <a:gdLst/>
              <a:ahLst/>
              <a:cxnLst/>
              <a:rect r="r" b="b" t="t" l="l"/>
              <a:pathLst>
                <a:path h="548640" w="2296795">
                  <a:moveTo>
                    <a:pt x="0" y="0"/>
                  </a:moveTo>
                  <a:lnTo>
                    <a:pt x="2296795" y="0"/>
                  </a:lnTo>
                  <a:lnTo>
                    <a:pt x="2296795" y="548640"/>
                  </a:lnTo>
                  <a:lnTo>
                    <a:pt x="0" y="548640"/>
                  </a:lnTo>
                  <a:lnTo>
                    <a:pt x="0" y="0"/>
                  </a:lnTo>
                  <a:close/>
                </a:path>
              </a:pathLst>
            </a:custGeom>
            <a:blipFill>
              <a:blip r:embed="rId5"/>
              <a:stretch>
                <a:fillRect l="0" t="0" r="0" b="0"/>
              </a:stretch>
            </a:blipFill>
          </p:spPr>
        </p:sp>
      </p:grpSp>
      <p:sp>
        <p:nvSpPr>
          <p:cNvPr name="Freeform 7" id="7"/>
          <p:cNvSpPr/>
          <p:nvPr/>
        </p:nvSpPr>
        <p:spPr>
          <a:xfrm flipH="false" flipV="false" rot="0">
            <a:off x="1122831" y="8414873"/>
            <a:ext cx="3998655" cy="1787652"/>
          </a:xfrm>
          <a:custGeom>
            <a:avLst/>
            <a:gdLst/>
            <a:ahLst/>
            <a:cxnLst/>
            <a:rect r="r" b="b" t="t" l="l"/>
            <a:pathLst>
              <a:path h="1787652" w="3998655">
                <a:moveTo>
                  <a:pt x="0" y="0"/>
                </a:moveTo>
                <a:lnTo>
                  <a:pt x="3998654" y="0"/>
                </a:lnTo>
                <a:lnTo>
                  <a:pt x="3998654" y="1787652"/>
                </a:lnTo>
                <a:lnTo>
                  <a:pt x="0" y="17876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5385554" y="8414873"/>
            <a:ext cx="3998655" cy="1787652"/>
          </a:xfrm>
          <a:custGeom>
            <a:avLst/>
            <a:gdLst/>
            <a:ahLst/>
            <a:cxnLst/>
            <a:rect r="r" b="b" t="t" l="l"/>
            <a:pathLst>
              <a:path h="1787652" w="3998655">
                <a:moveTo>
                  <a:pt x="0" y="0"/>
                </a:moveTo>
                <a:lnTo>
                  <a:pt x="3998655" y="0"/>
                </a:lnTo>
                <a:lnTo>
                  <a:pt x="3998655" y="1787652"/>
                </a:lnTo>
                <a:lnTo>
                  <a:pt x="0" y="1787652"/>
                </a:lnTo>
                <a:lnTo>
                  <a:pt x="0" y="0"/>
                </a:lnTo>
                <a:close/>
              </a:path>
            </a:pathLst>
          </a:custGeom>
          <a:blipFill>
            <a:blip r:embed="rId6">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9648277" y="8414873"/>
            <a:ext cx="3998655" cy="1787652"/>
          </a:xfrm>
          <a:custGeom>
            <a:avLst/>
            <a:gdLst/>
            <a:ahLst/>
            <a:cxnLst/>
            <a:rect r="r" b="b" t="t" l="l"/>
            <a:pathLst>
              <a:path h="1787652" w="3998655">
                <a:moveTo>
                  <a:pt x="0" y="0"/>
                </a:moveTo>
                <a:lnTo>
                  <a:pt x="3998655" y="0"/>
                </a:lnTo>
                <a:lnTo>
                  <a:pt x="3998655" y="1787652"/>
                </a:lnTo>
                <a:lnTo>
                  <a:pt x="0" y="1787652"/>
                </a:lnTo>
                <a:lnTo>
                  <a:pt x="0" y="0"/>
                </a:lnTo>
                <a:close/>
              </a:path>
            </a:pathLst>
          </a:custGeom>
          <a:blipFill>
            <a:blip r:embed="rId6">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4159198" y="8414873"/>
            <a:ext cx="3998655" cy="1787652"/>
          </a:xfrm>
          <a:custGeom>
            <a:avLst/>
            <a:gdLst/>
            <a:ahLst/>
            <a:cxnLst/>
            <a:rect r="r" b="b" t="t" l="l"/>
            <a:pathLst>
              <a:path h="1787652" w="3998655">
                <a:moveTo>
                  <a:pt x="0" y="0"/>
                </a:moveTo>
                <a:lnTo>
                  <a:pt x="3998655" y="0"/>
                </a:lnTo>
                <a:lnTo>
                  <a:pt x="3998655" y="1787652"/>
                </a:lnTo>
                <a:lnTo>
                  <a:pt x="0" y="1787652"/>
                </a:lnTo>
                <a:lnTo>
                  <a:pt x="0" y="0"/>
                </a:lnTo>
                <a:close/>
              </a:path>
            </a:pathLst>
          </a:custGeom>
          <a:blipFill>
            <a:blip r:embed="rId6">
              <a:extLst>
                <a:ext uri="{96DAC541-7B7A-43D3-8B79-37D633B846F1}">
                  <asvg:svgBlip xmlns:asvg="http://schemas.microsoft.com/office/drawing/2016/SVG/main" r:embed="rId10"/>
                </a:ext>
              </a:extLst>
            </a:blip>
            <a:stretch>
              <a:fillRect l="0" t="0" r="0" b="0"/>
            </a:stretch>
          </a:blipFill>
        </p:spPr>
      </p:sp>
      <p:grpSp>
        <p:nvGrpSpPr>
          <p:cNvPr name="Group 11" id="11"/>
          <p:cNvGrpSpPr/>
          <p:nvPr/>
        </p:nvGrpSpPr>
        <p:grpSpPr>
          <a:xfrm rot="0">
            <a:off x="1208187" y="1985689"/>
            <a:ext cx="9547658" cy="5119092"/>
            <a:chOff x="0" y="0"/>
            <a:chExt cx="10184168" cy="5460365"/>
          </a:xfrm>
        </p:grpSpPr>
        <p:sp>
          <p:nvSpPr>
            <p:cNvPr name="Freeform 12" id="12"/>
            <p:cNvSpPr/>
            <p:nvPr/>
          </p:nvSpPr>
          <p:spPr>
            <a:xfrm flipH="false" flipV="false" rot="0">
              <a:off x="0" y="0"/>
              <a:ext cx="10184130" cy="5460365"/>
            </a:xfrm>
            <a:custGeom>
              <a:avLst/>
              <a:gdLst/>
              <a:ahLst/>
              <a:cxnLst/>
              <a:rect r="r" b="b" t="t" l="l"/>
              <a:pathLst>
                <a:path h="5460365" w="10184130">
                  <a:moveTo>
                    <a:pt x="0" y="0"/>
                  </a:moveTo>
                  <a:lnTo>
                    <a:pt x="10184130" y="0"/>
                  </a:lnTo>
                  <a:lnTo>
                    <a:pt x="10184130" y="5460365"/>
                  </a:lnTo>
                  <a:lnTo>
                    <a:pt x="0" y="5460365"/>
                  </a:lnTo>
                  <a:lnTo>
                    <a:pt x="0" y="0"/>
                  </a:lnTo>
                  <a:close/>
                </a:path>
              </a:pathLst>
            </a:custGeom>
            <a:blipFill>
              <a:blip r:embed="rId11"/>
              <a:stretch>
                <a:fillRect l="0" t="0" r="0" b="0"/>
              </a:stretch>
            </a:blipFill>
          </p:spPr>
        </p:sp>
      </p:grpSp>
      <p:sp>
        <p:nvSpPr>
          <p:cNvPr name="TextBox 13" id="13"/>
          <p:cNvSpPr txBox="true"/>
          <p:nvPr/>
        </p:nvSpPr>
        <p:spPr>
          <a:xfrm rot="0">
            <a:off x="1208187" y="585061"/>
            <a:ext cx="7312212" cy="777038"/>
          </a:xfrm>
          <a:prstGeom prst="rect">
            <a:avLst/>
          </a:prstGeom>
        </p:spPr>
        <p:txBody>
          <a:bodyPr anchor="t" rtlCol="false" tIns="0" lIns="0" bIns="0" rIns="0">
            <a:spAutoFit/>
          </a:bodyPr>
          <a:lstStyle/>
          <a:p>
            <a:pPr algn="l">
              <a:lnSpc>
                <a:spcPts val="6299"/>
              </a:lnSpc>
            </a:pPr>
            <a:r>
              <a:rPr lang="en-US" sz="4500">
                <a:solidFill>
                  <a:srgbClr val="FFFFFF"/>
                </a:solidFill>
                <a:latin typeface="Roboto"/>
                <a:ea typeface="Roboto"/>
                <a:cs typeface="Roboto"/>
                <a:sym typeface="Roboto"/>
              </a:rPr>
              <a:t>Results and System Outputs</a:t>
            </a:r>
          </a:p>
        </p:txBody>
      </p:sp>
      <p:sp>
        <p:nvSpPr>
          <p:cNvPr name="TextBox 14" id="14"/>
          <p:cNvSpPr txBox="true"/>
          <p:nvPr/>
        </p:nvSpPr>
        <p:spPr>
          <a:xfrm rot="0">
            <a:off x="11898809" y="3650540"/>
            <a:ext cx="5278862" cy="3049262"/>
          </a:xfrm>
          <a:prstGeom prst="rect">
            <a:avLst/>
          </a:prstGeom>
        </p:spPr>
        <p:txBody>
          <a:bodyPr anchor="t" rtlCol="false" tIns="0" lIns="0" bIns="0" rIns="0">
            <a:spAutoFit/>
          </a:bodyPr>
          <a:lstStyle/>
          <a:p>
            <a:pPr algn="l">
              <a:lnSpc>
                <a:spcPts val="3675"/>
              </a:lnSpc>
            </a:pPr>
            <a:r>
              <a:rPr lang="en-US" b="true" sz="2625">
                <a:solidFill>
                  <a:srgbClr val="FFFFFF"/>
                </a:solidFill>
                <a:latin typeface="Roboto Bold"/>
                <a:ea typeface="Roboto Bold"/>
                <a:cs typeface="Roboto Bold"/>
                <a:sym typeface="Roboto Bold"/>
              </a:rPr>
              <a:t>Deliverables</a:t>
            </a:r>
          </a:p>
          <a:p>
            <a:pPr algn="l">
              <a:lnSpc>
                <a:spcPts val="3937"/>
              </a:lnSpc>
            </a:pPr>
            <a:r>
              <a:rPr lang="en-US" sz="2250">
                <a:solidFill>
                  <a:srgbClr val="CFD0D8"/>
                </a:solidFill>
                <a:latin typeface="Roboto"/>
                <a:ea typeface="Roboto"/>
                <a:cs typeface="Roboto"/>
                <a:sym typeface="Roboto"/>
              </a:rPr>
              <a:t>The Streamlit interface provides an intuitive way to navigate results, enabling users to jump to speciﬁc topics, review sentiment trends, and explore extracted keywords.</a:t>
            </a:r>
          </a:p>
        </p:txBody>
      </p:sp>
      <p:sp>
        <p:nvSpPr>
          <p:cNvPr name="TextBox 15" id="15"/>
          <p:cNvSpPr txBox="true"/>
          <p:nvPr/>
        </p:nvSpPr>
        <p:spPr>
          <a:xfrm rot="0">
            <a:off x="5768971" y="8601277"/>
            <a:ext cx="2110597" cy="398038"/>
          </a:xfrm>
          <a:prstGeom prst="rect">
            <a:avLst/>
          </a:prstGeom>
        </p:spPr>
        <p:txBody>
          <a:bodyPr anchor="t" rtlCol="false" tIns="0" lIns="0" bIns="0" rIns="0">
            <a:spAutoFit/>
          </a:bodyPr>
          <a:lstStyle/>
          <a:p>
            <a:pPr algn="l">
              <a:lnSpc>
                <a:spcPts val="3149"/>
              </a:lnSpc>
            </a:pPr>
            <a:r>
              <a:rPr lang="en-US" b="true" sz="2250">
                <a:solidFill>
                  <a:srgbClr val="CFD0D8"/>
                </a:solidFill>
                <a:latin typeface="Roboto Bold"/>
                <a:ea typeface="Roboto Bold"/>
                <a:cs typeface="Roboto Bold"/>
                <a:sym typeface="Roboto Bold"/>
              </a:rPr>
              <a:t>Topic Segments</a:t>
            </a:r>
          </a:p>
        </p:txBody>
      </p:sp>
      <p:sp>
        <p:nvSpPr>
          <p:cNvPr name="TextBox 16" id="16"/>
          <p:cNvSpPr txBox="true"/>
          <p:nvPr/>
        </p:nvSpPr>
        <p:spPr>
          <a:xfrm rot="0">
            <a:off x="10090285" y="8601277"/>
            <a:ext cx="3182100" cy="1427952"/>
          </a:xfrm>
          <a:prstGeom prst="rect">
            <a:avLst/>
          </a:prstGeom>
        </p:spPr>
        <p:txBody>
          <a:bodyPr anchor="t" rtlCol="false" tIns="0" lIns="0" bIns="0" rIns="0">
            <a:spAutoFit/>
          </a:bodyPr>
          <a:lstStyle/>
          <a:p>
            <a:pPr algn="l">
              <a:lnSpc>
                <a:spcPts val="3149"/>
              </a:lnSpc>
            </a:pPr>
            <a:r>
              <a:rPr lang="en-US" b="true" sz="2250">
                <a:solidFill>
                  <a:srgbClr val="CFD0D8"/>
                </a:solidFill>
                <a:latin typeface="Roboto Bold"/>
                <a:ea typeface="Roboto Bold"/>
                <a:cs typeface="Roboto Bold"/>
                <a:sym typeface="Roboto Bold"/>
              </a:rPr>
              <a:t>Sentiment Tracking</a:t>
            </a:r>
          </a:p>
          <a:p>
            <a:pPr algn="l">
              <a:lnSpc>
                <a:spcPts val="3468"/>
              </a:lnSpc>
            </a:pPr>
            <a:r>
              <a:rPr lang="en-US" sz="2000">
                <a:solidFill>
                  <a:srgbClr val="CFD0D8"/>
                </a:solidFill>
                <a:latin typeface="Roboto"/>
                <a:ea typeface="Roboto"/>
                <a:cs typeface="Roboto"/>
                <a:sym typeface="Roboto"/>
              </a:rPr>
              <a:t>Emotional tone analysis per segment</a:t>
            </a:r>
          </a:p>
        </p:txBody>
      </p:sp>
      <p:sp>
        <p:nvSpPr>
          <p:cNvPr name="TextBox 17" id="17"/>
          <p:cNvSpPr txBox="true"/>
          <p:nvPr/>
        </p:nvSpPr>
        <p:spPr>
          <a:xfrm rot="0">
            <a:off x="14483965" y="8601396"/>
            <a:ext cx="3185767" cy="1289935"/>
          </a:xfrm>
          <a:prstGeom prst="rect">
            <a:avLst/>
          </a:prstGeom>
        </p:spPr>
        <p:txBody>
          <a:bodyPr anchor="t" rtlCol="false" tIns="0" lIns="0" bIns="0" rIns="0">
            <a:spAutoFit/>
          </a:bodyPr>
          <a:lstStyle/>
          <a:p>
            <a:pPr algn="l">
              <a:lnSpc>
                <a:spcPts val="3149"/>
              </a:lnSpc>
            </a:pPr>
            <a:r>
              <a:rPr lang="en-US" b="true" sz="2250">
                <a:solidFill>
                  <a:srgbClr val="CFD0D8"/>
                </a:solidFill>
                <a:latin typeface="Roboto Bold"/>
                <a:ea typeface="Roboto Bold"/>
                <a:cs typeface="Roboto Bold"/>
                <a:sym typeface="Roboto Bold"/>
              </a:rPr>
              <a:t>Keyword Clouds</a:t>
            </a:r>
          </a:p>
          <a:p>
            <a:pPr algn="l">
              <a:lnSpc>
                <a:spcPts val="3468"/>
              </a:lnSpc>
            </a:pPr>
            <a:r>
              <a:rPr lang="en-US" sz="2000">
                <a:solidFill>
                  <a:srgbClr val="CFD0D8"/>
                </a:solidFill>
                <a:latin typeface="Roboto"/>
                <a:ea typeface="Roboto"/>
                <a:cs typeface="Roboto"/>
                <a:sym typeface="Roboto"/>
              </a:rPr>
              <a:t>Visual representation of key themes</a:t>
            </a:r>
          </a:p>
        </p:txBody>
      </p:sp>
      <p:sp>
        <p:nvSpPr>
          <p:cNvPr name="TextBox 18" id="18"/>
          <p:cNvSpPr txBox="true"/>
          <p:nvPr/>
        </p:nvSpPr>
        <p:spPr>
          <a:xfrm rot="0">
            <a:off x="1557969" y="8613374"/>
            <a:ext cx="2787086" cy="369582"/>
          </a:xfrm>
          <a:prstGeom prst="rect">
            <a:avLst/>
          </a:prstGeom>
        </p:spPr>
        <p:txBody>
          <a:bodyPr anchor="t" rtlCol="false" tIns="0" lIns="0" bIns="0" rIns="0">
            <a:spAutoFit/>
          </a:bodyPr>
          <a:lstStyle/>
          <a:p>
            <a:pPr algn="l">
              <a:lnSpc>
                <a:spcPts val="2974"/>
              </a:lnSpc>
            </a:pPr>
            <a:r>
              <a:rPr lang="en-US" b="true" sz="2124">
                <a:solidFill>
                  <a:srgbClr val="CFD0D8"/>
                </a:solidFill>
                <a:latin typeface="Roboto Bold"/>
                <a:ea typeface="Roboto Bold"/>
                <a:cs typeface="Roboto Bold"/>
                <a:sym typeface="Roboto Bold"/>
              </a:rPr>
              <a:t>Structured Transcript</a:t>
            </a:r>
            <a:r>
              <a:rPr lang="en-US" sz="2124">
                <a:solidFill>
                  <a:srgbClr val="CFD0D8"/>
                </a:solidFill>
                <a:latin typeface="Roboto"/>
                <a:ea typeface="Roboto"/>
                <a:cs typeface="Roboto"/>
                <a:sym typeface="Roboto"/>
              </a:rPr>
              <a:t>s</a:t>
            </a:r>
          </a:p>
        </p:txBody>
      </p:sp>
      <p:sp>
        <p:nvSpPr>
          <p:cNvPr name="TextBox 19" id="19"/>
          <p:cNvSpPr txBox="true"/>
          <p:nvPr/>
        </p:nvSpPr>
        <p:spPr>
          <a:xfrm rot="0">
            <a:off x="1447621" y="9045226"/>
            <a:ext cx="3324344" cy="805565"/>
          </a:xfrm>
          <a:prstGeom prst="rect">
            <a:avLst/>
          </a:prstGeom>
        </p:spPr>
        <p:txBody>
          <a:bodyPr anchor="t" rtlCol="false" tIns="0" lIns="0" bIns="0" rIns="0">
            <a:spAutoFit/>
          </a:bodyPr>
          <a:lstStyle/>
          <a:p>
            <a:pPr algn="l">
              <a:lnSpc>
                <a:spcPts val="3281"/>
              </a:lnSpc>
            </a:pPr>
            <a:r>
              <a:rPr lang="en-US" sz="1875">
                <a:solidFill>
                  <a:srgbClr val="CFD0D8"/>
                </a:solidFill>
                <a:latin typeface="Roboto"/>
                <a:ea typeface="Roboto"/>
                <a:cs typeface="Roboto"/>
                <a:sym typeface="Roboto"/>
              </a:rPr>
              <a:t>Time-stamped, searchable text output</a:t>
            </a:r>
          </a:p>
        </p:txBody>
      </p:sp>
      <p:sp>
        <p:nvSpPr>
          <p:cNvPr name="TextBox 20" id="20"/>
          <p:cNvSpPr txBox="true"/>
          <p:nvPr/>
        </p:nvSpPr>
        <p:spPr>
          <a:xfrm rot="0">
            <a:off x="5710345" y="9195221"/>
            <a:ext cx="3048691" cy="753297"/>
          </a:xfrm>
          <a:prstGeom prst="rect">
            <a:avLst/>
          </a:prstGeom>
        </p:spPr>
        <p:txBody>
          <a:bodyPr anchor="t" rtlCol="false" tIns="0" lIns="0" bIns="0" rIns="0">
            <a:spAutoFit/>
          </a:bodyPr>
          <a:lstStyle/>
          <a:p>
            <a:pPr algn="l">
              <a:lnSpc>
                <a:spcPts val="3094"/>
              </a:lnSpc>
            </a:pPr>
            <a:r>
              <a:rPr lang="en-US" sz="1750">
                <a:solidFill>
                  <a:srgbClr val="CFD0D8"/>
                </a:solidFill>
                <a:latin typeface="Roboto"/>
                <a:ea typeface="Roboto"/>
                <a:cs typeface="Roboto"/>
                <a:sym typeface="Roboto"/>
              </a:rPr>
              <a:t>Automatic content boundaries with labels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9507200" cy="10972800"/>
          </a:xfrm>
        </p:grpSpPr>
        <p:sp>
          <p:nvSpPr>
            <p:cNvPr name="Freeform 3" id="3"/>
            <p:cNvSpPr/>
            <p:nvPr/>
          </p:nvSpPr>
          <p:spPr>
            <a:xfrm flipH="false" flipV="false" rot="0">
              <a:off x="0" y="0"/>
              <a:ext cx="19507200" cy="10972800"/>
            </a:xfrm>
            <a:custGeom>
              <a:avLst/>
              <a:gdLst/>
              <a:ahLst/>
              <a:cxnLst/>
              <a:rect r="r" b="b" t="t" l="l"/>
              <a:pathLst>
                <a:path h="10972800" w="19507200">
                  <a:moveTo>
                    <a:pt x="0" y="0"/>
                  </a:moveTo>
                  <a:lnTo>
                    <a:pt x="19507200" y="0"/>
                  </a:lnTo>
                  <a:lnTo>
                    <a:pt x="19507200" y="10972800"/>
                  </a:lnTo>
                  <a:lnTo>
                    <a:pt x="0" y="10972800"/>
                  </a:lnTo>
                  <a:lnTo>
                    <a:pt x="0" y="0"/>
                  </a:lnTo>
                  <a:close/>
                </a:path>
              </a:pathLst>
            </a:custGeom>
            <a:blipFill>
              <a:blip r:embed="rId2"/>
              <a:stretch>
                <a:fillRect l="0" t="0" r="0" b="0"/>
              </a:stretch>
            </a:blipFill>
          </p:spPr>
        </p:sp>
      </p:grpSp>
      <p:sp>
        <p:nvSpPr>
          <p:cNvPr name="Freeform 4" id="4"/>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12864" y="4553795"/>
            <a:ext cx="16462272" cy="1859852"/>
          </a:xfrm>
          <a:custGeom>
            <a:avLst/>
            <a:gdLst/>
            <a:ahLst/>
            <a:cxnLst/>
            <a:rect r="r" b="b" t="t" l="l"/>
            <a:pathLst>
              <a:path h="1859852" w="16462272">
                <a:moveTo>
                  <a:pt x="0" y="0"/>
                </a:moveTo>
                <a:lnTo>
                  <a:pt x="16462272" y="0"/>
                </a:lnTo>
                <a:lnTo>
                  <a:pt x="16462272" y="1859852"/>
                </a:lnTo>
                <a:lnTo>
                  <a:pt x="0" y="18598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992243" y="843224"/>
            <a:ext cx="12883539" cy="957060"/>
          </a:xfrm>
          <a:prstGeom prst="rect">
            <a:avLst/>
          </a:prstGeom>
        </p:spPr>
        <p:txBody>
          <a:bodyPr anchor="t" rtlCol="false" tIns="0" lIns="0" bIns="0" rIns="0">
            <a:spAutoFit/>
          </a:bodyPr>
          <a:lstStyle/>
          <a:p>
            <a:pPr algn="l">
              <a:lnSpc>
                <a:spcPts val="7787"/>
              </a:lnSpc>
            </a:pPr>
            <a:r>
              <a:rPr lang="en-US" sz="5562">
                <a:solidFill>
                  <a:srgbClr val="FFFFFF"/>
                </a:solidFill>
                <a:latin typeface="Roboto"/>
                <a:ea typeface="Roboto"/>
                <a:cs typeface="Roboto"/>
                <a:sym typeface="Roboto"/>
              </a:rPr>
              <a:t>Testing and Performance Improvements</a:t>
            </a:r>
          </a:p>
        </p:txBody>
      </p:sp>
      <p:sp>
        <p:nvSpPr>
          <p:cNvPr name="TextBox 7" id="7"/>
          <p:cNvSpPr txBox="true"/>
          <p:nvPr/>
        </p:nvSpPr>
        <p:spPr>
          <a:xfrm rot="0">
            <a:off x="4850237" y="5163098"/>
            <a:ext cx="241161" cy="578072"/>
          </a:xfrm>
          <a:prstGeom prst="rect">
            <a:avLst/>
          </a:prstGeom>
        </p:spPr>
        <p:txBody>
          <a:bodyPr anchor="t" rtlCol="false" tIns="0" lIns="0" bIns="0" rIns="0">
            <a:spAutoFit/>
          </a:bodyPr>
          <a:lstStyle/>
          <a:p>
            <a:pPr algn="l">
              <a:lnSpc>
                <a:spcPts val="4637"/>
              </a:lnSpc>
            </a:pPr>
            <a:r>
              <a:rPr lang="en-US" sz="3312">
                <a:solidFill>
                  <a:srgbClr val="CFD0D8"/>
                </a:solidFill>
                <a:latin typeface="Roboto"/>
                <a:ea typeface="Roboto"/>
                <a:cs typeface="Roboto"/>
                <a:sym typeface="Roboto"/>
              </a:rPr>
              <a:t>1</a:t>
            </a:r>
          </a:p>
        </p:txBody>
      </p:sp>
      <p:sp>
        <p:nvSpPr>
          <p:cNvPr name="TextBox 8" id="8"/>
          <p:cNvSpPr txBox="true"/>
          <p:nvPr/>
        </p:nvSpPr>
        <p:spPr>
          <a:xfrm rot="0">
            <a:off x="9014591" y="5163098"/>
            <a:ext cx="241161" cy="578072"/>
          </a:xfrm>
          <a:prstGeom prst="rect">
            <a:avLst/>
          </a:prstGeom>
        </p:spPr>
        <p:txBody>
          <a:bodyPr anchor="t" rtlCol="false" tIns="0" lIns="0" bIns="0" rIns="0">
            <a:spAutoFit/>
          </a:bodyPr>
          <a:lstStyle/>
          <a:p>
            <a:pPr algn="l">
              <a:lnSpc>
                <a:spcPts val="4637"/>
              </a:lnSpc>
            </a:pPr>
            <a:r>
              <a:rPr lang="en-US" sz="3312">
                <a:solidFill>
                  <a:srgbClr val="CFD0D8"/>
                </a:solidFill>
                <a:latin typeface="Roboto"/>
                <a:ea typeface="Roboto"/>
                <a:cs typeface="Roboto"/>
                <a:sym typeface="Roboto"/>
              </a:rPr>
              <a:t>2</a:t>
            </a:r>
          </a:p>
        </p:txBody>
      </p:sp>
      <p:sp>
        <p:nvSpPr>
          <p:cNvPr name="TextBox 9" id="9"/>
          <p:cNvSpPr txBox="true"/>
          <p:nvPr/>
        </p:nvSpPr>
        <p:spPr>
          <a:xfrm rot="0">
            <a:off x="13179100" y="5163098"/>
            <a:ext cx="241161" cy="578072"/>
          </a:xfrm>
          <a:prstGeom prst="rect">
            <a:avLst/>
          </a:prstGeom>
        </p:spPr>
        <p:txBody>
          <a:bodyPr anchor="t" rtlCol="false" tIns="0" lIns="0" bIns="0" rIns="0">
            <a:spAutoFit/>
          </a:bodyPr>
          <a:lstStyle/>
          <a:p>
            <a:pPr algn="l">
              <a:lnSpc>
                <a:spcPts val="4637"/>
              </a:lnSpc>
            </a:pPr>
            <a:r>
              <a:rPr lang="en-US" sz="3312">
                <a:solidFill>
                  <a:srgbClr val="CFD0D8"/>
                </a:solidFill>
                <a:latin typeface="Roboto"/>
                <a:ea typeface="Roboto"/>
                <a:cs typeface="Roboto"/>
                <a:sym typeface="Roboto"/>
              </a:rPr>
              <a:t>3</a:t>
            </a:r>
          </a:p>
        </p:txBody>
      </p:sp>
      <p:sp>
        <p:nvSpPr>
          <p:cNvPr name="TextBox 10" id="10"/>
          <p:cNvSpPr txBox="true"/>
          <p:nvPr/>
        </p:nvSpPr>
        <p:spPr>
          <a:xfrm rot="0">
            <a:off x="1454348" y="2324124"/>
            <a:ext cx="7192232" cy="1553230"/>
          </a:xfrm>
          <a:prstGeom prst="rect">
            <a:avLst/>
          </a:prstGeom>
        </p:spPr>
        <p:txBody>
          <a:bodyPr anchor="t" rtlCol="false" tIns="0" lIns="0" bIns="0" rIns="0">
            <a:spAutoFit/>
          </a:bodyPr>
          <a:lstStyle/>
          <a:p>
            <a:pPr algn="ctr">
              <a:lnSpc>
                <a:spcPts val="3850"/>
              </a:lnSpc>
            </a:pPr>
            <a:r>
              <a:rPr lang="en-US" sz="2750">
                <a:solidFill>
                  <a:srgbClr val="CFD0D8"/>
                </a:solidFill>
                <a:latin typeface="Roboto"/>
                <a:ea typeface="Roboto"/>
                <a:cs typeface="Roboto"/>
                <a:sym typeface="Roboto"/>
              </a:rPr>
              <a:t>Noise Handling</a:t>
            </a:r>
          </a:p>
          <a:p>
            <a:pPr algn="ctr">
              <a:lnSpc>
                <a:spcPts val="4311"/>
              </a:lnSpc>
            </a:pPr>
            <a:r>
              <a:rPr lang="en-US" sz="2187">
                <a:solidFill>
                  <a:srgbClr val="CFD0D8"/>
                </a:solidFill>
                <a:latin typeface="Roboto"/>
                <a:ea typeface="Roboto"/>
                <a:cs typeface="Roboto"/>
                <a:sym typeface="Roboto"/>
              </a:rPr>
              <a:t>Implemented spectral gating and normalization to reduce background interference in transcription accuracy</a:t>
            </a:r>
          </a:p>
        </p:txBody>
      </p:sp>
      <p:sp>
        <p:nvSpPr>
          <p:cNvPr name="TextBox 11" id="11"/>
          <p:cNvSpPr txBox="true"/>
          <p:nvPr/>
        </p:nvSpPr>
        <p:spPr>
          <a:xfrm rot="0">
            <a:off x="5630620" y="6566178"/>
            <a:ext cx="7175540" cy="1553230"/>
          </a:xfrm>
          <a:prstGeom prst="rect">
            <a:avLst/>
          </a:prstGeom>
        </p:spPr>
        <p:txBody>
          <a:bodyPr anchor="t" rtlCol="false" tIns="0" lIns="0" bIns="0" rIns="0">
            <a:spAutoFit/>
          </a:bodyPr>
          <a:lstStyle/>
          <a:p>
            <a:pPr algn="ctr">
              <a:lnSpc>
                <a:spcPts val="3850"/>
              </a:lnSpc>
            </a:pPr>
            <a:r>
              <a:rPr lang="en-US" sz="2750">
                <a:solidFill>
                  <a:srgbClr val="CFD0D8"/>
                </a:solidFill>
                <a:latin typeface="Roboto"/>
                <a:ea typeface="Roboto"/>
                <a:cs typeface="Roboto"/>
                <a:sym typeface="Roboto"/>
              </a:rPr>
              <a:t>Chunking Strategy</a:t>
            </a:r>
          </a:p>
          <a:p>
            <a:pPr algn="ctr">
              <a:lnSpc>
                <a:spcPts val="4311"/>
              </a:lnSpc>
            </a:pPr>
            <a:r>
              <a:rPr lang="en-US" sz="2187">
                <a:solidFill>
                  <a:srgbClr val="CFD0D8"/>
                </a:solidFill>
                <a:latin typeface="Roboto"/>
                <a:ea typeface="Roboto"/>
                <a:cs typeface="Roboto"/>
                <a:sym typeface="Roboto"/>
              </a:rPr>
              <a:t>Optimized audio segment length (30-second windows) to balance processing speed and context preservation</a:t>
            </a:r>
          </a:p>
        </p:txBody>
      </p:sp>
      <p:sp>
        <p:nvSpPr>
          <p:cNvPr name="TextBox 12" id="12"/>
          <p:cNvSpPr txBox="true"/>
          <p:nvPr/>
        </p:nvSpPr>
        <p:spPr>
          <a:xfrm rot="0">
            <a:off x="9664148" y="2324124"/>
            <a:ext cx="7433298" cy="2100917"/>
          </a:xfrm>
          <a:prstGeom prst="rect">
            <a:avLst/>
          </a:prstGeom>
        </p:spPr>
        <p:txBody>
          <a:bodyPr anchor="t" rtlCol="false" tIns="0" lIns="0" bIns="0" rIns="0">
            <a:spAutoFit/>
          </a:bodyPr>
          <a:lstStyle/>
          <a:p>
            <a:pPr algn="ctr">
              <a:lnSpc>
                <a:spcPts val="3850"/>
              </a:lnSpc>
            </a:pPr>
            <a:r>
              <a:rPr lang="en-US" sz="2750">
                <a:solidFill>
                  <a:srgbClr val="CFD0D8"/>
                </a:solidFill>
                <a:latin typeface="Roboto"/>
                <a:ea typeface="Roboto"/>
                <a:cs typeface="Roboto"/>
                <a:sym typeface="Roboto"/>
              </a:rPr>
              <a:t>Threshold Tuning</a:t>
            </a:r>
          </a:p>
          <a:p>
            <a:pPr algn="ctr">
              <a:lnSpc>
                <a:spcPts val="4311"/>
              </a:lnSpc>
            </a:pPr>
            <a:r>
              <a:rPr lang="en-US" sz="2187">
                <a:solidFill>
                  <a:srgbClr val="CFD0D8"/>
                </a:solidFill>
                <a:latin typeface="Roboto"/>
                <a:ea typeface="Roboto"/>
                <a:cs typeface="Roboto"/>
                <a:sym typeface="Roboto"/>
              </a:rPr>
              <a:t>Calibrated similarity thresholds (0.65-0.75) for topic segmentation to minimize false boundaries while capturing true topic shifts</a:t>
            </a:r>
          </a:p>
        </p:txBody>
      </p:sp>
      <p:sp>
        <p:nvSpPr>
          <p:cNvPr name="TextBox 13" id="13"/>
          <p:cNvSpPr txBox="true"/>
          <p:nvPr/>
        </p:nvSpPr>
        <p:spPr>
          <a:xfrm rot="0">
            <a:off x="1275743" y="8514898"/>
            <a:ext cx="15883033" cy="1167015"/>
          </a:xfrm>
          <a:prstGeom prst="rect">
            <a:avLst/>
          </a:prstGeom>
        </p:spPr>
        <p:txBody>
          <a:bodyPr anchor="t" rtlCol="false" tIns="0" lIns="0" bIns="0" rIns="0">
            <a:spAutoFit/>
          </a:bodyPr>
          <a:lstStyle/>
          <a:p>
            <a:pPr algn="l">
              <a:lnSpc>
                <a:spcPts val="4782"/>
              </a:lnSpc>
            </a:pPr>
            <a:r>
              <a:rPr lang="en-US" sz="2437">
                <a:solidFill>
                  <a:srgbClr val="CFD0D8"/>
                </a:solidFill>
                <a:latin typeface="Roboto"/>
                <a:ea typeface="Roboto"/>
                <a:cs typeface="Roboto"/>
                <a:sym typeface="Roboto"/>
              </a:rPr>
              <a:t>Iterative testing revealed that preprocessing signiﬁcantly improved Whisper accuracy on lower-quality audio, while dynamic threshold adjustment reduced over-segmentation in conversational content.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9507200" cy="10972800"/>
          </a:xfrm>
        </p:grpSpPr>
        <p:sp>
          <p:nvSpPr>
            <p:cNvPr name="Freeform 3" id="3"/>
            <p:cNvSpPr/>
            <p:nvPr/>
          </p:nvSpPr>
          <p:spPr>
            <a:xfrm flipH="false" flipV="false" rot="0">
              <a:off x="0" y="0"/>
              <a:ext cx="19507200" cy="10972800"/>
            </a:xfrm>
            <a:custGeom>
              <a:avLst/>
              <a:gdLst/>
              <a:ahLst/>
              <a:cxnLst/>
              <a:rect r="r" b="b" t="t" l="l"/>
              <a:pathLst>
                <a:path h="10972800" w="19507200">
                  <a:moveTo>
                    <a:pt x="0" y="0"/>
                  </a:moveTo>
                  <a:lnTo>
                    <a:pt x="19507200" y="0"/>
                  </a:lnTo>
                  <a:lnTo>
                    <a:pt x="19507200" y="10972800"/>
                  </a:lnTo>
                  <a:lnTo>
                    <a:pt x="0" y="10972800"/>
                  </a:lnTo>
                  <a:lnTo>
                    <a:pt x="0" y="0"/>
                  </a:lnTo>
                  <a:close/>
                </a:path>
              </a:pathLst>
            </a:custGeom>
            <a:blipFill>
              <a:blip r:embed="rId2"/>
              <a:stretch>
                <a:fillRect l="0" t="0" r="0" b="0"/>
              </a:stretch>
            </a:blipFill>
          </p:spPr>
        </p:sp>
      </p:grpSp>
      <p:sp>
        <p:nvSpPr>
          <p:cNvPr name="Freeform 4" id="4"/>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74764" y="3782568"/>
            <a:ext cx="5461349" cy="4174867"/>
          </a:xfrm>
          <a:custGeom>
            <a:avLst/>
            <a:gdLst/>
            <a:ahLst/>
            <a:cxnLst/>
            <a:rect r="r" b="b" t="t" l="l"/>
            <a:pathLst>
              <a:path h="4174867" w="5461349">
                <a:moveTo>
                  <a:pt x="0" y="0"/>
                </a:moveTo>
                <a:lnTo>
                  <a:pt x="5461349" y="0"/>
                </a:lnTo>
                <a:lnTo>
                  <a:pt x="5461349" y="4174867"/>
                </a:lnTo>
                <a:lnTo>
                  <a:pt x="0" y="41748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03729" y="3782568"/>
            <a:ext cx="5461349" cy="4174867"/>
          </a:xfrm>
          <a:custGeom>
            <a:avLst/>
            <a:gdLst/>
            <a:ahLst/>
            <a:cxnLst/>
            <a:rect r="r" b="b" t="t" l="l"/>
            <a:pathLst>
              <a:path h="4174867" w="5461349">
                <a:moveTo>
                  <a:pt x="0" y="0"/>
                </a:moveTo>
                <a:lnTo>
                  <a:pt x="5461349" y="0"/>
                </a:lnTo>
                <a:lnTo>
                  <a:pt x="5461349" y="4174867"/>
                </a:lnTo>
                <a:lnTo>
                  <a:pt x="0" y="4174867"/>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1932694" y="3782568"/>
            <a:ext cx="5461349" cy="4174867"/>
          </a:xfrm>
          <a:custGeom>
            <a:avLst/>
            <a:gdLst/>
            <a:ahLst/>
            <a:cxnLst/>
            <a:rect r="r" b="b" t="t" l="l"/>
            <a:pathLst>
              <a:path h="4174867" w="5461349">
                <a:moveTo>
                  <a:pt x="0" y="0"/>
                </a:moveTo>
                <a:lnTo>
                  <a:pt x="5461349" y="0"/>
                </a:lnTo>
                <a:lnTo>
                  <a:pt x="5461349" y="4174867"/>
                </a:lnTo>
                <a:lnTo>
                  <a:pt x="0" y="4174867"/>
                </a:lnTo>
                <a:lnTo>
                  <a:pt x="0" y="0"/>
                </a:lnTo>
                <a:close/>
              </a:path>
            </a:pathLst>
          </a:custGeom>
          <a:blipFill>
            <a:blip r:embed="rId5">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992243" y="2348472"/>
            <a:ext cx="6131612" cy="957060"/>
          </a:xfrm>
          <a:prstGeom prst="rect">
            <a:avLst/>
          </a:prstGeom>
        </p:spPr>
        <p:txBody>
          <a:bodyPr anchor="t" rtlCol="false" tIns="0" lIns="0" bIns="0" rIns="0">
            <a:spAutoFit/>
          </a:bodyPr>
          <a:lstStyle/>
          <a:p>
            <a:pPr algn="l">
              <a:lnSpc>
                <a:spcPts val="7787"/>
              </a:lnSpc>
            </a:pPr>
            <a:r>
              <a:rPr lang="en-US" sz="5562">
                <a:solidFill>
                  <a:srgbClr val="FFFFFF"/>
                </a:solidFill>
                <a:latin typeface="Roboto"/>
                <a:ea typeface="Roboto"/>
                <a:cs typeface="Roboto"/>
                <a:sym typeface="Roboto"/>
              </a:rPr>
              <a:t>Current Limitations</a:t>
            </a:r>
          </a:p>
        </p:txBody>
      </p:sp>
      <p:sp>
        <p:nvSpPr>
          <p:cNvPr name="TextBox 9" id="9"/>
          <p:cNvSpPr txBox="true"/>
          <p:nvPr/>
        </p:nvSpPr>
        <p:spPr>
          <a:xfrm rot="0">
            <a:off x="1428155" y="4150995"/>
            <a:ext cx="4514529" cy="3196292"/>
          </a:xfrm>
          <a:prstGeom prst="rect">
            <a:avLst/>
          </a:prstGeom>
        </p:spPr>
        <p:txBody>
          <a:bodyPr anchor="t" rtlCol="false" tIns="0" lIns="0" bIns="0" rIns="0">
            <a:spAutoFit/>
          </a:bodyPr>
          <a:lstStyle/>
          <a:p>
            <a:pPr algn="l">
              <a:lnSpc>
                <a:spcPts val="3850"/>
              </a:lnSpc>
            </a:pPr>
            <a:r>
              <a:rPr lang="en-US" sz="2750">
                <a:solidFill>
                  <a:srgbClr val="CFD0D8"/>
                </a:solidFill>
                <a:latin typeface="Roboto"/>
                <a:ea typeface="Roboto"/>
                <a:cs typeface="Roboto"/>
                <a:sym typeface="Roboto"/>
              </a:rPr>
              <a:t>Speaker Overlap</a:t>
            </a:r>
          </a:p>
          <a:p>
            <a:pPr algn="l">
              <a:lnSpc>
                <a:spcPts val="4311"/>
              </a:lnSpc>
            </a:pPr>
            <a:r>
              <a:rPr lang="en-US" sz="2187">
                <a:solidFill>
                  <a:srgbClr val="CFD0D8"/>
                </a:solidFill>
                <a:latin typeface="Roboto"/>
                <a:ea typeface="Roboto"/>
                <a:cs typeface="Roboto"/>
                <a:sym typeface="Roboto"/>
              </a:rPr>
              <a:t>Simultaneous speech from multiple speakers reduces transcription accuracy and complicates attribution. Cross-talk remains challenging for current ASR models.</a:t>
            </a:r>
          </a:p>
        </p:txBody>
      </p:sp>
      <p:sp>
        <p:nvSpPr>
          <p:cNvPr name="TextBox 10" id="10"/>
          <p:cNvSpPr txBox="true"/>
          <p:nvPr/>
        </p:nvSpPr>
        <p:spPr>
          <a:xfrm rot="0">
            <a:off x="6957120" y="4150995"/>
            <a:ext cx="4128611" cy="3196292"/>
          </a:xfrm>
          <a:prstGeom prst="rect">
            <a:avLst/>
          </a:prstGeom>
        </p:spPr>
        <p:txBody>
          <a:bodyPr anchor="t" rtlCol="false" tIns="0" lIns="0" bIns="0" rIns="0">
            <a:spAutoFit/>
          </a:bodyPr>
          <a:lstStyle/>
          <a:p>
            <a:pPr algn="l">
              <a:lnSpc>
                <a:spcPts val="3850"/>
              </a:lnSpc>
            </a:pPr>
            <a:r>
              <a:rPr lang="en-US" sz="2750">
                <a:solidFill>
                  <a:srgbClr val="CFD0D8"/>
                </a:solidFill>
                <a:latin typeface="Roboto"/>
                <a:ea typeface="Roboto"/>
                <a:cs typeface="Roboto"/>
                <a:sym typeface="Roboto"/>
              </a:rPr>
              <a:t>Noise Sensitivity</a:t>
            </a:r>
          </a:p>
          <a:p>
            <a:pPr algn="l">
              <a:lnSpc>
                <a:spcPts val="4311"/>
              </a:lnSpc>
            </a:pPr>
            <a:r>
              <a:rPr lang="en-US" sz="2187">
                <a:solidFill>
                  <a:srgbClr val="CFD0D8"/>
                </a:solidFill>
                <a:latin typeface="Roboto"/>
                <a:ea typeface="Roboto"/>
                <a:cs typeface="Roboto"/>
                <a:sym typeface="Roboto"/>
              </a:rPr>
              <a:t>Performance degrades with poor recording quality, heavy background noise, or signiﬁcant audio artifacts despite preprocessing efforts.</a:t>
            </a:r>
          </a:p>
        </p:txBody>
      </p:sp>
      <p:sp>
        <p:nvSpPr>
          <p:cNvPr name="TextBox 11" id="11"/>
          <p:cNvSpPr txBox="true"/>
          <p:nvPr/>
        </p:nvSpPr>
        <p:spPr>
          <a:xfrm rot="0">
            <a:off x="12486084" y="4150995"/>
            <a:ext cx="4503646" cy="3196292"/>
          </a:xfrm>
          <a:prstGeom prst="rect">
            <a:avLst/>
          </a:prstGeom>
        </p:spPr>
        <p:txBody>
          <a:bodyPr anchor="t" rtlCol="false" tIns="0" lIns="0" bIns="0" rIns="0">
            <a:spAutoFit/>
          </a:bodyPr>
          <a:lstStyle/>
          <a:p>
            <a:pPr algn="l">
              <a:lnSpc>
                <a:spcPts val="3850"/>
              </a:lnSpc>
            </a:pPr>
            <a:r>
              <a:rPr lang="en-US" sz="2750">
                <a:solidFill>
                  <a:srgbClr val="CFD0D8"/>
                </a:solidFill>
                <a:latin typeface="Roboto"/>
                <a:ea typeface="Roboto"/>
                <a:cs typeface="Roboto"/>
                <a:sym typeface="Roboto"/>
              </a:rPr>
              <a:t>Gradual Topic Shifts</a:t>
            </a:r>
          </a:p>
          <a:p>
            <a:pPr algn="l">
              <a:lnSpc>
                <a:spcPts val="4311"/>
              </a:lnSpc>
            </a:pPr>
            <a:r>
              <a:rPr lang="en-US" sz="2187">
                <a:solidFill>
                  <a:srgbClr val="CFD0D8"/>
                </a:solidFill>
                <a:latin typeface="Roboto"/>
                <a:ea typeface="Roboto"/>
                <a:cs typeface="Roboto"/>
                <a:sym typeface="Roboto"/>
              </a:rPr>
              <a:t>Embedding-based segmentation struggles with subtle, gradual transitions between related topics, potentially creating artiﬁcial boundaries or missing natural ones.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9507200" cy="10972800"/>
          </a:xfrm>
        </p:grpSpPr>
        <p:sp>
          <p:nvSpPr>
            <p:cNvPr name="Freeform 3" id="3"/>
            <p:cNvSpPr/>
            <p:nvPr/>
          </p:nvSpPr>
          <p:spPr>
            <a:xfrm flipH="false" flipV="false" rot="0">
              <a:off x="0" y="0"/>
              <a:ext cx="19507200" cy="10972800"/>
            </a:xfrm>
            <a:custGeom>
              <a:avLst/>
              <a:gdLst/>
              <a:ahLst/>
              <a:cxnLst/>
              <a:rect r="r" b="b" t="t" l="l"/>
              <a:pathLst>
                <a:path h="10972800" w="19507200">
                  <a:moveTo>
                    <a:pt x="0" y="0"/>
                  </a:moveTo>
                  <a:lnTo>
                    <a:pt x="19507200" y="0"/>
                  </a:lnTo>
                  <a:lnTo>
                    <a:pt x="19507200" y="10972800"/>
                  </a:lnTo>
                  <a:lnTo>
                    <a:pt x="0" y="10972800"/>
                  </a:lnTo>
                  <a:lnTo>
                    <a:pt x="0" y="0"/>
                  </a:lnTo>
                  <a:close/>
                </a:path>
              </a:pathLst>
            </a:custGeom>
            <a:blipFill>
              <a:blip r:embed="rId2"/>
              <a:stretch>
                <a:fillRect l="0" t="0" r="0" b="0"/>
              </a:stretch>
            </a:blipFill>
          </p:spPr>
        </p:sp>
      </p:grpSp>
      <p:sp>
        <p:nvSpPr>
          <p:cNvPr name="Freeform 4" id="4"/>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6049018" y="9686925"/>
            <a:ext cx="2153257" cy="514350"/>
            <a:chOff x="0" y="0"/>
            <a:chExt cx="2296808" cy="548640"/>
          </a:xfrm>
        </p:grpSpPr>
        <p:sp>
          <p:nvSpPr>
            <p:cNvPr name="Freeform 6" id="6"/>
            <p:cNvSpPr/>
            <p:nvPr/>
          </p:nvSpPr>
          <p:spPr>
            <a:xfrm flipH="false" flipV="false" rot="0">
              <a:off x="0" y="0"/>
              <a:ext cx="2296795" cy="548640"/>
            </a:xfrm>
            <a:custGeom>
              <a:avLst/>
              <a:gdLst/>
              <a:ahLst/>
              <a:cxnLst/>
              <a:rect r="r" b="b" t="t" l="l"/>
              <a:pathLst>
                <a:path h="548640" w="2296795">
                  <a:moveTo>
                    <a:pt x="0" y="0"/>
                  </a:moveTo>
                  <a:lnTo>
                    <a:pt x="2296795" y="0"/>
                  </a:lnTo>
                  <a:lnTo>
                    <a:pt x="2296795" y="548640"/>
                  </a:lnTo>
                  <a:lnTo>
                    <a:pt x="0" y="548640"/>
                  </a:lnTo>
                  <a:lnTo>
                    <a:pt x="0" y="0"/>
                  </a:lnTo>
                  <a:close/>
                </a:path>
              </a:pathLst>
            </a:custGeom>
            <a:blipFill>
              <a:blip r:embed="rId5"/>
              <a:stretch>
                <a:fillRect l="0" t="0" r="0" b="0"/>
              </a:stretch>
            </a:blipFill>
          </p:spPr>
        </p:sp>
      </p:grpSp>
      <p:grpSp>
        <p:nvGrpSpPr>
          <p:cNvPr name="Group 7" id="7"/>
          <p:cNvGrpSpPr/>
          <p:nvPr/>
        </p:nvGrpSpPr>
        <p:grpSpPr>
          <a:xfrm rot="0">
            <a:off x="979730" y="4261568"/>
            <a:ext cx="10411420" cy="2854381"/>
            <a:chOff x="0" y="0"/>
            <a:chExt cx="11105515" cy="3044673"/>
          </a:xfrm>
        </p:grpSpPr>
        <p:sp>
          <p:nvSpPr>
            <p:cNvPr name="Freeform 8" id="8"/>
            <p:cNvSpPr/>
            <p:nvPr/>
          </p:nvSpPr>
          <p:spPr>
            <a:xfrm flipH="false" flipV="false" rot="0">
              <a:off x="0" y="0"/>
              <a:ext cx="11105515" cy="3044698"/>
            </a:xfrm>
            <a:custGeom>
              <a:avLst/>
              <a:gdLst/>
              <a:ahLst/>
              <a:cxnLst/>
              <a:rect r="r" b="b" t="t" l="l"/>
              <a:pathLst>
                <a:path h="3044698" w="11105515">
                  <a:moveTo>
                    <a:pt x="0" y="0"/>
                  </a:moveTo>
                  <a:lnTo>
                    <a:pt x="11105515" y="0"/>
                  </a:lnTo>
                  <a:lnTo>
                    <a:pt x="11105515" y="3044698"/>
                  </a:lnTo>
                  <a:lnTo>
                    <a:pt x="0" y="3044698"/>
                  </a:lnTo>
                  <a:lnTo>
                    <a:pt x="0" y="0"/>
                  </a:lnTo>
                  <a:close/>
                </a:path>
              </a:pathLst>
            </a:custGeom>
            <a:blipFill>
              <a:blip r:embed="rId6"/>
              <a:stretch>
                <a:fillRect l="0" t="0" r="0" b="0"/>
              </a:stretch>
            </a:blipFill>
          </p:spPr>
        </p:sp>
      </p:grpSp>
      <p:sp>
        <p:nvSpPr>
          <p:cNvPr name="Freeform 9" id="9"/>
          <p:cNvSpPr/>
          <p:nvPr/>
        </p:nvSpPr>
        <p:spPr>
          <a:xfrm flipH="false" flipV="false" rot="0">
            <a:off x="11977842" y="8674751"/>
            <a:ext cx="6108752" cy="1594128"/>
          </a:xfrm>
          <a:custGeom>
            <a:avLst/>
            <a:gdLst/>
            <a:ahLst/>
            <a:cxnLst/>
            <a:rect r="r" b="b" t="t" l="l"/>
            <a:pathLst>
              <a:path h="1594128" w="6108752">
                <a:moveTo>
                  <a:pt x="0" y="0"/>
                </a:moveTo>
                <a:lnTo>
                  <a:pt x="6108752" y="0"/>
                </a:lnTo>
                <a:lnTo>
                  <a:pt x="6108752" y="1594128"/>
                </a:lnTo>
                <a:lnTo>
                  <a:pt x="0" y="159412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0" id="10"/>
          <p:cNvGrpSpPr/>
          <p:nvPr/>
        </p:nvGrpSpPr>
        <p:grpSpPr>
          <a:xfrm rot="0">
            <a:off x="12746843" y="8950964"/>
            <a:ext cx="295716" cy="236637"/>
            <a:chOff x="0" y="0"/>
            <a:chExt cx="315430" cy="252412"/>
          </a:xfrm>
        </p:grpSpPr>
        <p:sp>
          <p:nvSpPr>
            <p:cNvPr name="Freeform 11" id="11"/>
            <p:cNvSpPr/>
            <p:nvPr/>
          </p:nvSpPr>
          <p:spPr>
            <a:xfrm flipH="false" flipV="false" rot="0">
              <a:off x="0" y="0"/>
              <a:ext cx="315468" cy="252349"/>
            </a:xfrm>
            <a:custGeom>
              <a:avLst/>
              <a:gdLst/>
              <a:ahLst/>
              <a:cxnLst/>
              <a:rect r="r" b="b" t="t" l="l"/>
              <a:pathLst>
                <a:path h="252349" w="315468">
                  <a:moveTo>
                    <a:pt x="0" y="0"/>
                  </a:moveTo>
                  <a:lnTo>
                    <a:pt x="315468" y="0"/>
                  </a:lnTo>
                  <a:lnTo>
                    <a:pt x="315468" y="252349"/>
                  </a:lnTo>
                  <a:lnTo>
                    <a:pt x="0" y="252349"/>
                  </a:lnTo>
                  <a:lnTo>
                    <a:pt x="0" y="0"/>
                  </a:lnTo>
                  <a:close/>
                </a:path>
              </a:pathLst>
            </a:custGeom>
            <a:blipFill>
              <a:blip r:embed="rId9"/>
              <a:stretch>
                <a:fillRect l="0" t="0" r="12" b="-25"/>
              </a:stretch>
            </a:blipFill>
          </p:spPr>
        </p:sp>
      </p:grpSp>
      <p:sp>
        <p:nvSpPr>
          <p:cNvPr name="TextBox 12" id="12"/>
          <p:cNvSpPr txBox="true"/>
          <p:nvPr/>
        </p:nvSpPr>
        <p:spPr>
          <a:xfrm rot="0">
            <a:off x="979730" y="1501807"/>
            <a:ext cx="5812953" cy="795969"/>
          </a:xfrm>
          <a:prstGeom prst="rect">
            <a:avLst/>
          </a:prstGeom>
        </p:spPr>
        <p:txBody>
          <a:bodyPr anchor="t" rtlCol="false" tIns="0" lIns="0" bIns="0" rIns="0">
            <a:spAutoFit/>
          </a:bodyPr>
          <a:lstStyle/>
          <a:p>
            <a:pPr algn="l">
              <a:lnSpc>
                <a:spcPts val="6474"/>
              </a:lnSpc>
            </a:pPr>
            <a:r>
              <a:rPr lang="en-US" sz="4624">
                <a:solidFill>
                  <a:srgbClr val="FFFFFF"/>
                </a:solidFill>
                <a:latin typeface="Roboto"/>
                <a:ea typeface="Roboto"/>
                <a:cs typeface="Roboto"/>
                <a:sym typeface="Roboto"/>
              </a:rPr>
              <a:t>Future Enhancements</a:t>
            </a:r>
          </a:p>
        </p:txBody>
      </p:sp>
      <p:sp>
        <p:nvSpPr>
          <p:cNvPr name="TextBox 13" id="13"/>
          <p:cNvSpPr txBox="true"/>
          <p:nvPr/>
        </p:nvSpPr>
        <p:spPr>
          <a:xfrm rot="0">
            <a:off x="2449128" y="5207960"/>
            <a:ext cx="1042297" cy="707934"/>
          </a:xfrm>
          <a:prstGeom prst="rect">
            <a:avLst/>
          </a:prstGeom>
        </p:spPr>
        <p:txBody>
          <a:bodyPr anchor="t" rtlCol="false" tIns="0" lIns="0" bIns="0" rIns="0">
            <a:spAutoFit/>
          </a:bodyPr>
          <a:lstStyle/>
          <a:p>
            <a:pPr algn="r">
              <a:lnSpc>
                <a:spcPts val="2812"/>
              </a:lnSpc>
            </a:pPr>
            <a:r>
              <a:rPr lang="en-US" b="true" sz="1875">
                <a:solidFill>
                  <a:srgbClr val="CFD0D8"/>
                </a:solidFill>
                <a:latin typeface="Roboto Bold"/>
                <a:ea typeface="Roboto Bold"/>
                <a:cs typeface="Roboto Bold"/>
                <a:sym typeface="Roboto Bold"/>
              </a:rPr>
              <a:t>Speaker Diarizatio</a:t>
            </a:r>
          </a:p>
        </p:txBody>
      </p:sp>
      <p:sp>
        <p:nvSpPr>
          <p:cNvPr name="TextBox 14" id="14"/>
          <p:cNvSpPr txBox="true"/>
          <p:nvPr/>
        </p:nvSpPr>
        <p:spPr>
          <a:xfrm rot="0">
            <a:off x="3473065" y="5446264"/>
            <a:ext cx="125194" cy="465165"/>
          </a:xfrm>
          <a:prstGeom prst="rect">
            <a:avLst/>
          </a:prstGeom>
        </p:spPr>
        <p:txBody>
          <a:bodyPr anchor="t" rtlCol="false" tIns="0" lIns="0" bIns="0" rIns="0">
            <a:spAutoFit/>
          </a:bodyPr>
          <a:lstStyle/>
          <a:p>
            <a:pPr algn="l">
              <a:lnSpc>
                <a:spcPts val="4112"/>
              </a:lnSpc>
            </a:pPr>
            <a:r>
              <a:rPr lang="en-US" sz="1750">
                <a:solidFill>
                  <a:srgbClr val="CFD0D8"/>
                </a:solidFill>
                <a:latin typeface="Roboto"/>
                <a:ea typeface="Roboto"/>
                <a:cs typeface="Roboto"/>
                <a:sym typeface="Roboto"/>
              </a:rPr>
              <a:t>n</a:t>
            </a:r>
          </a:p>
        </p:txBody>
      </p:sp>
      <p:sp>
        <p:nvSpPr>
          <p:cNvPr name="TextBox 15" id="15"/>
          <p:cNvSpPr txBox="true"/>
          <p:nvPr/>
        </p:nvSpPr>
        <p:spPr>
          <a:xfrm rot="0">
            <a:off x="2313777" y="5968591"/>
            <a:ext cx="1371850" cy="774728"/>
          </a:xfrm>
          <a:prstGeom prst="rect">
            <a:avLst/>
          </a:prstGeom>
        </p:spPr>
        <p:txBody>
          <a:bodyPr anchor="t" rtlCol="false" tIns="0" lIns="0" bIns="0" rIns="0">
            <a:spAutoFit/>
          </a:bodyPr>
          <a:lstStyle/>
          <a:p>
            <a:pPr algn="ctr">
              <a:lnSpc>
                <a:spcPts val="4112"/>
              </a:lnSpc>
            </a:pPr>
            <a:r>
              <a:rPr lang="en-US" sz="1750">
                <a:solidFill>
                  <a:srgbClr val="CFD0D8"/>
                </a:solidFill>
                <a:latin typeface="Roboto"/>
                <a:ea typeface="Roboto"/>
                <a:cs typeface="Roboto"/>
                <a:sym typeface="Roboto"/>
              </a:rPr>
              <a:t>Attribution in</a:t>
            </a:r>
          </a:p>
          <a:p>
            <a:pPr algn="ctr">
              <a:lnSpc>
                <a:spcPts val="875"/>
              </a:lnSpc>
            </a:pPr>
            <a:r>
              <a:rPr lang="en-US" sz="1750">
                <a:solidFill>
                  <a:srgbClr val="CFD0D8"/>
                </a:solidFill>
                <a:latin typeface="Roboto"/>
                <a:ea typeface="Roboto"/>
                <a:cs typeface="Roboto"/>
                <a:sym typeface="Roboto"/>
              </a:rPr>
              <a:t>multi-speake</a:t>
            </a:r>
            <a:r>
              <a:rPr lang="en-US" sz="1750">
                <a:solidFill>
                  <a:srgbClr val="FFFFFF"/>
                </a:solidFill>
                <a:latin typeface="Roboto"/>
                <a:ea typeface="Roboto"/>
                <a:cs typeface="Roboto"/>
                <a:sym typeface="Roboto"/>
              </a:rPr>
              <a:t> </a:t>
            </a:r>
            <a:r>
              <a:rPr lang="en-US" sz="1750">
                <a:solidFill>
                  <a:srgbClr val="CFD0D8"/>
                </a:solidFill>
                <a:latin typeface="Roboto"/>
                <a:ea typeface="Roboto"/>
                <a:cs typeface="Roboto"/>
                <a:sym typeface="Roboto"/>
              </a:rPr>
              <a:t>r</a:t>
            </a:r>
          </a:p>
        </p:txBody>
      </p:sp>
      <p:sp>
        <p:nvSpPr>
          <p:cNvPr name="TextBox 16" id="16"/>
          <p:cNvSpPr txBox="true"/>
          <p:nvPr/>
        </p:nvSpPr>
        <p:spPr>
          <a:xfrm rot="0">
            <a:off x="6664583" y="5802487"/>
            <a:ext cx="1211651" cy="922365"/>
          </a:xfrm>
          <a:prstGeom prst="rect">
            <a:avLst/>
          </a:prstGeom>
        </p:spPr>
        <p:txBody>
          <a:bodyPr anchor="t" rtlCol="false" tIns="0" lIns="0" bIns="0" rIns="0">
            <a:spAutoFit/>
          </a:bodyPr>
          <a:lstStyle/>
          <a:p>
            <a:pPr algn="ctr">
              <a:lnSpc>
                <a:spcPts val="2437"/>
              </a:lnSpc>
            </a:pPr>
            <a:r>
              <a:rPr lang="en-US" sz="1750">
                <a:solidFill>
                  <a:srgbClr val="CFD0D8"/>
                </a:solidFill>
                <a:latin typeface="Roboto"/>
                <a:ea typeface="Roboto"/>
                <a:cs typeface="Roboto"/>
                <a:sym typeface="Roboto"/>
              </a:rPr>
              <a:t>Handle non- English content</a:t>
            </a:r>
          </a:p>
        </p:txBody>
      </p:sp>
      <p:sp>
        <p:nvSpPr>
          <p:cNvPr name="TextBox 17" id="17"/>
          <p:cNvSpPr txBox="true"/>
          <p:nvPr/>
        </p:nvSpPr>
        <p:spPr>
          <a:xfrm rot="0">
            <a:off x="8784217" y="5510772"/>
            <a:ext cx="1360122" cy="922365"/>
          </a:xfrm>
          <a:prstGeom prst="rect">
            <a:avLst/>
          </a:prstGeom>
        </p:spPr>
        <p:txBody>
          <a:bodyPr anchor="t" rtlCol="false" tIns="0" lIns="0" bIns="0" rIns="0">
            <a:spAutoFit/>
          </a:bodyPr>
          <a:lstStyle/>
          <a:p>
            <a:pPr algn="ctr">
              <a:lnSpc>
                <a:spcPts val="2437"/>
              </a:lnSpc>
            </a:pPr>
            <a:r>
              <a:rPr lang="en-US" sz="1750">
                <a:solidFill>
                  <a:srgbClr val="CFD0D8"/>
                </a:solidFill>
                <a:latin typeface="Roboto"/>
                <a:ea typeface="Roboto"/>
                <a:cs typeface="Roboto"/>
                <a:sym typeface="Roboto"/>
              </a:rPr>
              <a:t>Scalable, accessible infrastructure</a:t>
            </a:r>
          </a:p>
        </p:txBody>
      </p:sp>
      <p:sp>
        <p:nvSpPr>
          <p:cNvPr name="TextBox 18" id="18"/>
          <p:cNvSpPr txBox="true"/>
          <p:nvPr/>
        </p:nvSpPr>
        <p:spPr>
          <a:xfrm rot="0">
            <a:off x="2742402" y="6752201"/>
            <a:ext cx="349210" cy="284297"/>
          </a:xfrm>
          <a:prstGeom prst="rect">
            <a:avLst/>
          </a:prstGeom>
        </p:spPr>
        <p:txBody>
          <a:bodyPr anchor="t" rtlCol="false" tIns="0" lIns="0" bIns="0" rIns="0">
            <a:spAutoFit/>
          </a:bodyPr>
          <a:lstStyle/>
          <a:p>
            <a:pPr algn="l">
              <a:lnSpc>
                <a:spcPts val="2275"/>
              </a:lnSpc>
            </a:pPr>
            <a:r>
              <a:rPr lang="en-US" sz="1625">
                <a:solidFill>
                  <a:srgbClr val="CFD0D8"/>
                </a:solidFill>
                <a:latin typeface="Roboto"/>
                <a:ea typeface="Roboto"/>
                <a:cs typeface="Roboto"/>
                <a:sym typeface="Roboto"/>
              </a:rPr>
              <a:t>aud</a:t>
            </a:r>
          </a:p>
        </p:txBody>
      </p:sp>
      <p:sp>
        <p:nvSpPr>
          <p:cNvPr name="TextBox 19" id="19"/>
          <p:cNvSpPr txBox="true"/>
          <p:nvPr/>
        </p:nvSpPr>
        <p:spPr>
          <a:xfrm rot="0">
            <a:off x="4560630" y="5384185"/>
            <a:ext cx="1182362" cy="889135"/>
          </a:xfrm>
          <a:prstGeom prst="rect">
            <a:avLst/>
          </a:prstGeom>
        </p:spPr>
        <p:txBody>
          <a:bodyPr anchor="t" rtlCol="false" tIns="0" lIns="0" bIns="0" rIns="0">
            <a:spAutoFit/>
          </a:bodyPr>
          <a:lstStyle/>
          <a:p>
            <a:pPr algn="ctr">
              <a:lnSpc>
                <a:spcPts val="2343"/>
              </a:lnSpc>
            </a:pPr>
            <a:r>
              <a:rPr lang="en-US" sz="1625">
                <a:solidFill>
                  <a:srgbClr val="CFD0D8"/>
                </a:solidFill>
                <a:latin typeface="Roboto"/>
                <a:ea typeface="Roboto"/>
                <a:cs typeface="Roboto"/>
                <a:sym typeface="Roboto"/>
              </a:rPr>
              <a:t>Live transcription and analysis</a:t>
            </a:r>
          </a:p>
        </p:txBody>
      </p:sp>
      <p:sp>
        <p:nvSpPr>
          <p:cNvPr name="TextBox 20" id="20"/>
          <p:cNvSpPr txBox="true"/>
          <p:nvPr/>
        </p:nvSpPr>
        <p:spPr>
          <a:xfrm rot="0">
            <a:off x="3086362" y="6781133"/>
            <a:ext cx="144851" cy="246424"/>
          </a:xfrm>
          <a:prstGeom prst="rect">
            <a:avLst/>
          </a:prstGeom>
        </p:spPr>
        <p:txBody>
          <a:bodyPr anchor="t" rtlCol="false" tIns="0" lIns="0" bIns="0" rIns="0">
            <a:spAutoFit/>
          </a:bodyPr>
          <a:lstStyle/>
          <a:p>
            <a:pPr algn="l">
              <a:lnSpc>
                <a:spcPts val="1925"/>
              </a:lnSpc>
            </a:pPr>
            <a:r>
              <a:rPr lang="en-US" sz="1375">
                <a:solidFill>
                  <a:srgbClr val="CFD0D8"/>
                </a:solidFill>
                <a:latin typeface="Roboto"/>
                <a:ea typeface="Roboto"/>
                <a:cs typeface="Roboto"/>
                <a:sym typeface="Roboto"/>
              </a:rPr>
              <a:t>io</a:t>
            </a:r>
          </a:p>
        </p:txBody>
      </p:sp>
      <p:sp>
        <p:nvSpPr>
          <p:cNvPr name="TextBox 21" id="21"/>
          <p:cNvSpPr txBox="true"/>
          <p:nvPr/>
        </p:nvSpPr>
        <p:spPr>
          <a:xfrm rot="0">
            <a:off x="4513005" y="4552271"/>
            <a:ext cx="1307044" cy="760214"/>
          </a:xfrm>
          <a:prstGeom prst="rect">
            <a:avLst/>
          </a:prstGeom>
        </p:spPr>
        <p:txBody>
          <a:bodyPr anchor="t" rtlCol="false" tIns="0" lIns="0" bIns="0" rIns="0">
            <a:spAutoFit/>
          </a:bodyPr>
          <a:lstStyle/>
          <a:p>
            <a:pPr algn="ctr">
              <a:lnSpc>
                <a:spcPts val="3000"/>
              </a:lnSpc>
            </a:pPr>
            <a:r>
              <a:rPr lang="en-US" b="true" sz="2000">
                <a:solidFill>
                  <a:srgbClr val="FFFFFF"/>
                </a:solidFill>
                <a:latin typeface="Roboto Bold"/>
                <a:ea typeface="Roboto Bold"/>
                <a:cs typeface="Roboto Bold"/>
                <a:sym typeface="Roboto Bold"/>
              </a:rPr>
              <a:t>Real-time Processing</a:t>
            </a:r>
          </a:p>
        </p:txBody>
      </p:sp>
      <p:sp>
        <p:nvSpPr>
          <p:cNvPr name="TextBox 22" id="22"/>
          <p:cNvSpPr txBox="true"/>
          <p:nvPr/>
        </p:nvSpPr>
        <p:spPr>
          <a:xfrm rot="0">
            <a:off x="6628876" y="4824008"/>
            <a:ext cx="1379399" cy="760214"/>
          </a:xfrm>
          <a:prstGeom prst="rect">
            <a:avLst/>
          </a:prstGeom>
        </p:spPr>
        <p:txBody>
          <a:bodyPr anchor="t" rtlCol="false" tIns="0" lIns="0" bIns="0" rIns="0">
            <a:spAutoFit/>
          </a:bodyPr>
          <a:lstStyle/>
          <a:p>
            <a:pPr algn="ctr">
              <a:lnSpc>
                <a:spcPts val="3000"/>
              </a:lnSpc>
            </a:pPr>
            <a:r>
              <a:rPr lang="en-US" b="true" sz="2000">
                <a:solidFill>
                  <a:srgbClr val="FFFFFF"/>
                </a:solidFill>
                <a:latin typeface="Roboto Bold"/>
                <a:ea typeface="Roboto Bold"/>
                <a:cs typeface="Roboto Bold"/>
                <a:sym typeface="Roboto Bold"/>
              </a:rPr>
              <a:t>Multilingual Suppor t</a:t>
            </a:r>
          </a:p>
        </p:txBody>
      </p:sp>
      <p:sp>
        <p:nvSpPr>
          <p:cNvPr name="TextBox 23" id="23"/>
          <p:cNvSpPr txBox="true"/>
          <p:nvPr/>
        </p:nvSpPr>
        <p:spPr>
          <a:xfrm rot="0">
            <a:off x="8772311" y="4647926"/>
            <a:ext cx="1394579" cy="760214"/>
          </a:xfrm>
          <a:prstGeom prst="rect">
            <a:avLst/>
          </a:prstGeom>
        </p:spPr>
        <p:txBody>
          <a:bodyPr anchor="t" rtlCol="false" tIns="0" lIns="0" bIns="0" rIns="0">
            <a:spAutoFit/>
          </a:bodyPr>
          <a:lstStyle/>
          <a:p>
            <a:pPr algn="ctr">
              <a:lnSpc>
                <a:spcPts val="3000"/>
              </a:lnSpc>
            </a:pPr>
            <a:r>
              <a:rPr lang="en-US" b="true" sz="2000">
                <a:solidFill>
                  <a:srgbClr val="FFFFFF"/>
                </a:solidFill>
                <a:latin typeface="Roboto Bold"/>
                <a:ea typeface="Roboto Bold"/>
                <a:cs typeface="Roboto Bold"/>
                <a:sym typeface="Roboto Bold"/>
              </a:rPr>
              <a:t>Cloud Deployment</a:t>
            </a:r>
          </a:p>
        </p:txBody>
      </p:sp>
      <p:sp>
        <p:nvSpPr>
          <p:cNvPr name="TextBox 24" id="24"/>
          <p:cNvSpPr txBox="true"/>
          <p:nvPr/>
        </p:nvSpPr>
        <p:spPr>
          <a:xfrm rot="0">
            <a:off x="11977830" y="2766786"/>
            <a:ext cx="5162205" cy="2787896"/>
          </a:xfrm>
          <a:prstGeom prst="rect">
            <a:avLst/>
          </a:prstGeom>
        </p:spPr>
        <p:txBody>
          <a:bodyPr anchor="t" rtlCol="false" tIns="0" lIns="0" bIns="0" rIns="0">
            <a:spAutoFit/>
          </a:bodyPr>
          <a:lstStyle/>
          <a:p>
            <a:pPr algn="l">
              <a:lnSpc>
                <a:spcPts val="3237"/>
              </a:lnSpc>
            </a:pPr>
            <a:r>
              <a:rPr lang="en-US" sz="2312">
                <a:solidFill>
                  <a:srgbClr val="FFFFFF"/>
                </a:solidFill>
                <a:latin typeface="Roboto"/>
                <a:ea typeface="Roboto"/>
                <a:cs typeface="Roboto"/>
                <a:sym typeface="Roboto"/>
              </a:rPr>
              <a:t>Next Steps</a:t>
            </a:r>
          </a:p>
          <a:p>
            <a:pPr algn="l">
              <a:lnSpc>
                <a:spcPts val="3656"/>
              </a:lnSpc>
            </a:pPr>
            <a:r>
              <a:rPr lang="en-US" sz="2062">
                <a:solidFill>
                  <a:srgbClr val="CFD0D8"/>
                </a:solidFill>
                <a:latin typeface="Roboto"/>
                <a:ea typeface="Roboto"/>
                <a:cs typeface="Roboto"/>
                <a:sym typeface="Roboto"/>
              </a:rPr>
              <a:t>Speaker diarization will enable attribution in multi-speaker contexts using neural embeddings. Real-time processing capabilities would support live transcription and analysis for webinars and meetings.</a:t>
            </a:r>
          </a:p>
        </p:txBody>
      </p:sp>
      <p:sp>
        <p:nvSpPr>
          <p:cNvPr name="TextBox 25" id="25"/>
          <p:cNvSpPr txBox="true"/>
          <p:nvPr/>
        </p:nvSpPr>
        <p:spPr>
          <a:xfrm rot="0">
            <a:off x="11977842" y="6053888"/>
            <a:ext cx="5088422" cy="2284155"/>
          </a:xfrm>
          <a:prstGeom prst="rect">
            <a:avLst/>
          </a:prstGeom>
        </p:spPr>
        <p:txBody>
          <a:bodyPr anchor="t" rtlCol="false" tIns="0" lIns="0" bIns="0" rIns="0">
            <a:spAutoFit/>
          </a:bodyPr>
          <a:lstStyle/>
          <a:p>
            <a:pPr algn="l">
              <a:lnSpc>
                <a:spcPts val="3656"/>
              </a:lnSpc>
            </a:pPr>
            <a:r>
              <a:rPr lang="en-US" sz="2062">
                <a:solidFill>
                  <a:srgbClr val="CFD0D8"/>
                </a:solidFill>
                <a:latin typeface="Roboto"/>
                <a:ea typeface="Roboto"/>
                <a:cs typeface="Roboto"/>
                <a:sym typeface="Roboto"/>
              </a:rPr>
              <a:t>Expanding to multilingual models would broaden accessibility, while cloud deployment on AWS or Azure would enable scalable, production-ready access for enterprise applications.</a:t>
            </a:r>
          </a:p>
        </p:txBody>
      </p:sp>
      <p:sp>
        <p:nvSpPr>
          <p:cNvPr name="TextBox 26" id="26"/>
          <p:cNvSpPr txBox="true"/>
          <p:nvPr/>
        </p:nvSpPr>
        <p:spPr>
          <a:xfrm rot="0">
            <a:off x="12438162" y="8840998"/>
            <a:ext cx="4786229" cy="1298436"/>
          </a:xfrm>
          <a:prstGeom prst="rect">
            <a:avLst/>
          </a:prstGeom>
        </p:spPr>
        <p:txBody>
          <a:bodyPr anchor="t" rtlCol="false" tIns="0" lIns="0" bIns="0" rIns="0">
            <a:spAutoFit/>
          </a:bodyPr>
          <a:lstStyle/>
          <a:p>
            <a:pPr algn="just">
              <a:lnSpc>
                <a:spcPts val="3468"/>
              </a:lnSpc>
            </a:pPr>
            <a:r>
              <a:rPr lang="en-US" b="true" sz="1937">
                <a:solidFill>
                  <a:srgbClr val="FFFFFF"/>
                </a:solidFill>
                <a:latin typeface="Roboto Bold"/>
                <a:ea typeface="Roboto Bold"/>
                <a:cs typeface="Roboto Bold"/>
                <a:sym typeface="Roboto Bold"/>
              </a:rPr>
              <a:t>Target:</a:t>
            </a:r>
            <a:r>
              <a:rPr lang="en-US" sz="1937">
                <a:solidFill>
                  <a:srgbClr val="FFFFFF"/>
                </a:solidFill>
                <a:latin typeface="Roboto"/>
                <a:ea typeface="Roboto"/>
                <a:cs typeface="Roboto"/>
                <a:sym typeface="Roboto"/>
              </a:rPr>
              <a:t> Production-ready system within 6-9 months with enterprise-grade performance and reliability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DAHBvZeCHc8</dc:identifier>
  <dcterms:modified xsi:type="dcterms:W3CDTF">2011-08-01T06:04:30Z</dcterms:modified>
  <cp:revision>1</cp:revision>
</cp:coreProperties>
</file>